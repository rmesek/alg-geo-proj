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76" r:id="rId6"/>
    <p:sldId id="277" r:id="rId7"/>
    <p:sldId id="278" r:id="rId8"/>
    <p:sldId id="279" r:id="rId9"/>
    <p:sldId id="280" r:id="rId10"/>
    <p:sldId id="281" r:id="rId11"/>
    <p:sldId id="282" r:id="rId12"/>
    <p:sldId id="283" r:id="rId13"/>
    <p:sldId id="284" r:id="rId14"/>
    <p:sldId id="285" r:id="rId15"/>
    <p:sldId id="286" r:id="rId16"/>
    <p:sldId id="287" r:id="rId17"/>
    <p:sldId id="260" r:id="rId18"/>
    <p:sldId id="275" r:id="rId19"/>
    <p:sldId id="274" r:id="rId20"/>
    <p:sldId id="261" r:id="rId21"/>
    <p:sldId id="262" r:id="rId22"/>
    <p:sldId id="263" r:id="rId23"/>
    <p:sldId id="265" r:id="rId24"/>
    <p:sldId id="267" r:id="rId25"/>
    <p:sldId id="264" r:id="rId26"/>
    <p:sldId id="266" r:id="rId27"/>
    <p:sldId id="268" r:id="rId28"/>
    <p:sldId id="269" r:id="rId29"/>
    <p:sldId id="270" r:id="rId30"/>
    <p:sldId id="271" r:id="rId31"/>
    <p:sldId id="272" r:id="rId32"/>
    <p:sldId id="273" r:id="rId33"/>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0B421-687E-48BE-9161-5EDA0FB3AB77}" v="36" dt="2024-01-02T22:52:35.755"/>
    <p1510:client id="{DCFA052C-74AC-4E45-A38F-AC8C9516762B}" v="104" dt="2024-01-02T23:55:47.572"/>
    <p1510:client id="{E964FB2E-9597-47EC-A3A3-C11CAC6719C4}" v="345" dt="2024-01-02T23:45:23.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D62247-1B1C-4728-8B6A-3F276F2FE8FE}"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C73868C0-12DA-405D-80A1-C26C2333AD42}">
      <dgm:prSet/>
      <dgm:spPr/>
      <dgm:t>
        <a:bodyPr/>
        <a:lstStyle/>
        <a:p>
          <a:r>
            <a:rPr lang="pl-PL"/>
            <a:t>1. Wstępna triangulacja</a:t>
          </a:r>
          <a:endParaRPr lang="en-US"/>
        </a:p>
      </dgm:t>
    </dgm:pt>
    <dgm:pt modelId="{692D00E9-C2C4-4F06-B23A-D04D7E9D5DB5}" type="parTrans" cxnId="{9F92E6F5-AF87-492B-AFFF-0D3C1341D7D3}">
      <dgm:prSet/>
      <dgm:spPr/>
      <dgm:t>
        <a:bodyPr/>
        <a:lstStyle/>
        <a:p>
          <a:endParaRPr lang="en-US"/>
        </a:p>
      </dgm:t>
    </dgm:pt>
    <dgm:pt modelId="{B47D45DB-659E-4CED-A321-B7A2781CA766}" type="sibTrans" cxnId="{9F92E6F5-AF87-492B-AFFF-0D3C1341D7D3}">
      <dgm:prSet/>
      <dgm:spPr/>
      <dgm:t>
        <a:bodyPr/>
        <a:lstStyle/>
        <a:p>
          <a:endParaRPr lang="en-US"/>
        </a:p>
      </dgm:t>
    </dgm:pt>
    <dgm:pt modelId="{E83FB01D-8962-4F8A-AF00-C2E866DA90E1}">
      <dgm:prSet/>
      <dgm:spPr/>
      <dgm:t>
        <a:bodyPr/>
        <a:lstStyle/>
        <a:p>
          <a:r>
            <a:rPr lang="pl-PL"/>
            <a:t>2. Odzyskiwanie krawędzi</a:t>
          </a:r>
          <a:endParaRPr lang="en-US"/>
        </a:p>
      </dgm:t>
    </dgm:pt>
    <dgm:pt modelId="{915F249D-1520-4928-A962-B40EF3EF6E16}" type="parTrans" cxnId="{7C939081-B1DA-4F77-8775-8189879E7981}">
      <dgm:prSet/>
      <dgm:spPr/>
      <dgm:t>
        <a:bodyPr/>
        <a:lstStyle/>
        <a:p>
          <a:endParaRPr lang="en-US"/>
        </a:p>
      </dgm:t>
    </dgm:pt>
    <dgm:pt modelId="{3C4FA141-00CD-4BA0-B9A1-D0884953EF81}" type="sibTrans" cxnId="{7C939081-B1DA-4F77-8775-8189879E7981}">
      <dgm:prSet/>
      <dgm:spPr/>
      <dgm:t>
        <a:bodyPr/>
        <a:lstStyle/>
        <a:p>
          <a:endParaRPr lang="en-US"/>
        </a:p>
      </dgm:t>
    </dgm:pt>
    <dgm:pt modelId="{57BAB986-7C21-4009-BB84-65E8E65196E0}">
      <dgm:prSet/>
      <dgm:spPr/>
      <dgm:t>
        <a:bodyPr/>
        <a:lstStyle/>
        <a:p>
          <a:r>
            <a:rPr lang="pl-PL"/>
            <a:t>3. Usuwanie trójkątów zewnętrznych</a:t>
          </a:r>
        </a:p>
      </dgm:t>
    </dgm:pt>
    <dgm:pt modelId="{77B9F99C-D8F2-4E9E-9707-4EB5C6780BDB}" type="parTrans" cxnId="{8DDA90BE-2903-42D3-BD9E-7303AF16E17F}">
      <dgm:prSet/>
      <dgm:spPr/>
      <dgm:t>
        <a:bodyPr/>
        <a:lstStyle/>
        <a:p>
          <a:endParaRPr lang="en-US"/>
        </a:p>
      </dgm:t>
    </dgm:pt>
    <dgm:pt modelId="{999288BF-C721-45AC-AFEB-A9275C11D3FD}" type="sibTrans" cxnId="{8DDA90BE-2903-42D3-BD9E-7303AF16E17F}">
      <dgm:prSet/>
      <dgm:spPr/>
      <dgm:t>
        <a:bodyPr/>
        <a:lstStyle/>
        <a:p>
          <a:endParaRPr lang="en-US"/>
        </a:p>
      </dgm:t>
    </dgm:pt>
    <dgm:pt modelId="{F0B512E2-1D40-4208-A860-13F45BF2406D}" type="pres">
      <dgm:prSet presAssocID="{CDD62247-1B1C-4728-8B6A-3F276F2FE8FE}" presName="diagram" presStyleCnt="0">
        <dgm:presLayoutVars>
          <dgm:dir/>
          <dgm:resizeHandles val="exact"/>
        </dgm:presLayoutVars>
      </dgm:prSet>
      <dgm:spPr/>
    </dgm:pt>
    <dgm:pt modelId="{480EB81A-1B80-40C2-B328-7B500FB4E251}" type="pres">
      <dgm:prSet presAssocID="{C73868C0-12DA-405D-80A1-C26C2333AD42}" presName="node" presStyleLbl="node1" presStyleIdx="0" presStyleCnt="3">
        <dgm:presLayoutVars>
          <dgm:bulletEnabled val="1"/>
        </dgm:presLayoutVars>
      </dgm:prSet>
      <dgm:spPr/>
    </dgm:pt>
    <dgm:pt modelId="{D0A0CCC2-B1D9-4125-9E05-83D0641045E4}" type="pres">
      <dgm:prSet presAssocID="{B47D45DB-659E-4CED-A321-B7A2781CA766}" presName="sibTrans" presStyleLbl="sibTrans2D1" presStyleIdx="0" presStyleCnt="2"/>
      <dgm:spPr/>
    </dgm:pt>
    <dgm:pt modelId="{C76196CB-3311-4FD9-832E-EA9A7F2B53DB}" type="pres">
      <dgm:prSet presAssocID="{B47D45DB-659E-4CED-A321-B7A2781CA766}" presName="connectorText" presStyleLbl="sibTrans2D1" presStyleIdx="0" presStyleCnt="2"/>
      <dgm:spPr/>
    </dgm:pt>
    <dgm:pt modelId="{82F22665-7FDA-4BCF-A795-A14F3A9C9DDF}" type="pres">
      <dgm:prSet presAssocID="{E83FB01D-8962-4F8A-AF00-C2E866DA90E1}" presName="node" presStyleLbl="node1" presStyleIdx="1" presStyleCnt="3">
        <dgm:presLayoutVars>
          <dgm:bulletEnabled val="1"/>
        </dgm:presLayoutVars>
      </dgm:prSet>
      <dgm:spPr/>
    </dgm:pt>
    <dgm:pt modelId="{DDDD99AC-2309-4BB3-966A-840691B0793D}" type="pres">
      <dgm:prSet presAssocID="{3C4FA141-00CD-4BA0-B9A1-D0884953EF81}" presName="sibTrans" presStyleLbl="sibTrans2D1" presStyleIdx="1" presStyleCnt="2"/>
      <dgm:spPr/>
    </dgm:pt>
    <dgm:pt modelId="{8C4972A5-9B21-4802-B6EE-F9FD13203F9E}" type="pres">
      <dgm:prSet presAssocID="{3C4FA141-00CD-4BA0-B9A1-D0884953EF81}" presName="connectorText" presStyleLbl="sibTrans2D1" presStyleIdx="1" presStyleCnt="2"/>
      <dgm:spPr/>
    </dgm:pt>
    <dgm:pt modelId="{D1DE5937-026B-4421-B778-24BC2658AF2E}" type="pres">
      <dgm:prSet presAssocID="{57BAB986-7C21-4009-BB84-65E8E65196E0}" presName="node" presStyleLbl="node1" presStyleIdx="2" presStyleCnt="3">
        <dgm:presLayoutVars>
          <dgm:bulletEnabled val="1"/>
        </dgm:presLayoutVars>
      </dgm:prSet>
      <dgm:spPr/>
    </dgm:pt>
  </dgm:ptLst>
  <dgm:cxnLst>
    <dgm:cxn modelId="{B78D8803-147B-477C-8DF0-9828A7DAF25D}" type="presOf" srcId="{3C4FA141-00CD-4BA0-B9A1-D0884953EF81}" destId="{8C4972A5-9B21-4802-B6EE-F9FD13203F9E}" srcOrd="1" destOrd="0" presId="urn:microsoft.com/office/officeart/2005/8/layout/process5"/>
    <dgm:cxn modelId="{59F68D19-8DD3-4DF0-B49F-74A03BEF958F}" type="presOf" srcId="{57BAB986-7C21-4009-BB84-65E8E65196E0}" destId="{D1DE5937-026B-4421-B778-24BC2658AF2E}" srcOrd="0" destOrd="0" presId="urn:microsoft.com/office/officeart/2005/8/layout/process5"/>
    <dgm:cxn modelId="{8D549F24-6343-4D95-A39B-168433DC1DFB}" type="presOf" srcId="{B47D45DB-659E-4CED-A321-B7A2781CA766}" destId="{D0A0CCC2-B1D9-4125-9E05-83D0641045E4}" srcOrd="0" destOrd="0" presId="urn:microsoft.com/office/officeart/2005/8/layout/process5"/>
    <dgm:cxn modelId="{C8A4CF2E-F0E8-42C5-A6DE-5503C08692BC}" type="presOf" srcId="{3C4FA141-00CD-4BA0-B9A1-D0884953EF81}" destId="{DDDD99AC-2309-4BB3-966A-840691B0793D}" srcOrd="0" destOrd="0" presId="urn:microsoft.com/office/officeart/2005/8/layout/process5"/>
    <dgm:cxn modelId="{2C43113F-ECC1-4315-83E7-A19E71890BF2}" type="presOf" srcId="{E83FB01D-8962-4F8A-AF00-C2E866DA90E1}" destId="{82F22665-7FDA-4BCF-A795-A14F3A9C9DDF}" srcOrd="0" destOrd="0" presId="urn:microsoft.com/office/officeart/2005/8/layout/process5"/>
    <dgm:cxn modelId="{5BC3D779-3889-4992-A884-64B7724ACD31}" type="presOf" srcId="{CDD62247-1B1C-4728-8B6A-3F276F2FE8FE}" destId="{F0B512E2-1D40-4208-A860-13F45BF2406D}" srcOrd="0" destOrd="0" presId="urn:microsoft.com/office/officeart/2005/8/layout/process5"/>
    <dgm:cxn modelId="{7C939081-B1DA-4F77-8775-8189879E7981}" srcId="{CDD62247-1B1C-4728-8B6A-3F276F2FE8FE}" destId="{E83FB01D-8962-4F8A-AF00-C2E866DA90E1}" srcOrd="1" destOrd="0" parTransId="{915F249D-1520-4928-A962-B40EF3EF6E16}" sibTransId="{3C4FA141-00CD-4BA0-B9A1-D0884953EF81}"/>
    <dgm:cxn modelId="{6EE0699F-A992-423E-85E0-5D454781DDDE}" type="presOf" srcId="{B47D45DB-659E-4CED-A321-B7A2781CA766}" destId="{C76196CB-3311-4FD9-832E-EA9A7F2B53DB}" srcOrd="1" destOrd="0" presId="urn:microsoft.com/office/officeart/2005/8/layout/process5"/>
    <dgm:cxn modelId="{B5687AA2-F571-40B9-94FC-9FB3624DD849}" type="presOf" srcId="{C73868C0-12DA-405D-80A1-C26C2333AD42}" destId="{480EB81A-1B80-40C2-B328-7B500FB4E251}" srcOrd="0" destOrd="0" presId="urn:microsoft.com/office/officeart/2005/8/layout/process5"/>
    <dgm:cxn modelId="{8DDA90BE-2903-42D3-BD9E-7303AF16E17F}" srcId="{CDD62247-1B1C-4728-8B6A-3F276F2FE8FE}" destId="{57BAB986-7C21-4009-BB84-65E8E65196E0}" srcOrd="2" destOrd="0" parTransId="{77B9F99C-D8F2-4E9E-9707-4EB5C6780BDB}" sibTransId="{999288BF-C721-45AC-AFEB-A9275C11D3FD}"/>
    <dgm:cxn modelId="{9F92E6F5-AF87-492B-AFFF-0D3C1341D7D3}" srcId="{CDD62247-1B1C-4728-8B6A-3F276F2FE8FE}" destId="{C73868C0-12DA-405D-80A1-C26C2333AD42}" srcOrd="0" destOrd="0" parTransId="{692D00E9-C2C4-4F06-B23A-D04D7E9D5DB5}" sibTransId="{B47D45DB-659E-4CED-A321-B7A2781CA766}"/>
    <dgm:cxn modelId="{7AE24308-FA6D-40AC-A1A2-09BBC7A5B294}" type="presParOf" srcId="{F0B512E2-1D40-4208-A860-13F45BF2406D}" destId="{480EB81A-1B80-40C2-B328-7B500FB4E251}" srcOrd="0" destOrd="0" presId="urn:microsoft.com/office/officeart/2005/8/layout/process5"/>
    <dgm:cxn modelId="{EF462C10-F695-408F-8E5E-525F40528194}" type="presParOf" srcId="{F0B512E2-1D40-4208-A860-13F45BF2406D}" destId="{D0A0CCC2-B1D9-4125-9E05-83D0641045E4}" srcOrd="1" destOrd="0" presId="urn:microsoft.com/office/officeart/2005/8/layout/process5"/>
    <dgm:cxn modelId="{5B916A9E-DA47-4725-B5D6-FDF50C2FCCB9}" type="presParOf" srcId="{D0A0CCC2-B1D9-4125-9E05-83D0641045E4}" destId="{C76196CB-3311-4FD9-832E-EA9A7F2B53DB}" srcOrd="0" destOrd="0" presId="urn:microsoft.com/office/officeart/2005/8/layout/process5"/>
    <dgm:cxn modelId="{AB3F1E7B-7EA9-423F-8F9F-4129211F1DAE}" type="presParOf" srcId="{F0B512E2-1D40-4208-A860-13F45BF2406D}" destId="{82F22665-7FDA-4BCF-A795-A14F3A9C9DDF}" srcOrd="2" destOrd="0" presId="urn:microsoft.com/office/officeart/2005/8/layout/process5"/>
    <dgm:cxn modelId="{9CC47955-FEF5-4A4C-BE60-2A62824D1CC9}" type="presParOf" srcId="{F0B512E2-1D40-4208-A860-13F45BF2406D}" destId="{DDDD99AC-2309-4BB3-966A-840691B0793D}" srcOrd="3" destOrd="0" presId="urn:microsoft.com/office/officeart/2005/8/layout/process5"/>
    <dgm:cxn modelId="{09718CA2-0AB7-4E22-9E69-51AFF84ABC71}" type="presParOf" srcId="{DDDD99AC-2309-4BB3-966A-840691B0793D}" destId="{8C4972A5-9B21-4802-B6EE-F9FD13203F9E}" srcOrd="0" destOrd="0" presId="urn:microsoft.com/office/officeart/2005/8/layout/process5"/>
    <dgm:cxn modelId="{8CD23AC1-C6CA-4032-AEB4-49AD3DE30DF0}" type="presParOf" srcId="{F0B512E2-1D40-4208-A860-13F45BF2406D}" destId="{D1DE5937-026B-4421-B778-24BC2658AF2E}"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1F2F58-2A0D-4931-9546-CD778CF5109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B4634C3-F1A5-4AB5-A357-A4CEBEB4081B}">
      <dgm:prSet/>
      <dgm:spPr/>
      <dgm:t>
        <a:bodyPr/>
        <a:lstStyle/>
        <a:p>
          <a:r>
            <a:rPr lang="pl-PL"/>
            <a:t>1. Znalezienie trójkąta, w którym zawiera się punkt.</a:t>
          </a:r>
          <a:endParaRPr lang="en-US"/>
        </a:p>
      </dgm:t>
    </dgm:pt>
    <dgm:pt modelId="{3728A3CD-0770-479B-874C-1516D6EFA4EB}" type="parTrans" cxnId="{B6D602D0-E825-4D27-B36D-D477D5540DE9}">
      <dgm:prSet/>
      <dgm:spPr/>
      <dgm:t>
        <a:bodyPr/>
        <a:lstStyle/>
        <a:p>
          <a:endParaRPr lang="en-US"/>
        </a:p>
      </dgm:t>
    </dgm:pt>
    <dgm:pt modelId="{C7090D6A-D5E4-4AAD-B7D0-7E2B22A2837D}" type="sibTrans" cxnId="{B6D602D0-E825-4D27-B36D-D477D5540DE9}">
      <dgm:prSet/>
      <dgm:spPr/>
      <dgm:t>
        <a:bodyPr/>
        <a:lstStyle/>
        <a:p>
          <a:endParaRPr lang="en-US"/>
        </a:p>
      </dgm:t>
    </dgm:pt>
    <dgm:pt modelId="{183DDA4D-8382-4386-9856-C604B172A7CF}">
      <dgm:prSet/>
      <dgm:spPr/>
      <dgm:t>
        <a:bodyPr/>
        <a:lstStyle/>
        <a:p>
          <a:r>
            <a:rPr lang="pl-PL"/>
            <a:t>2. Znalezienie trójkątów, których okręgi opisane zwierają wstawiony punkt.</a:t>
          </a:r>
          <a:endParaRPr lang="en-US"/>
        </a:p>
      </dgm:t>
    </dgm:pt>
    <dgm:pt modelId="{0C68ACE1-8929-4F60-8CA6-610D4F92962D}" type="parTrans" cxnId="{33509ECD-E110-4EF1-871D-2F53A0E0C77F}">
      <dgm:prSet/>
      <dgm:spPr/>
      <dgm:t>
        <a:bodyPr/>
        <a:lstStyle/>
        <a:p>
          <a:endParaRPr lang="en-US"/>
        </a:p>
      </dgm:t>
    </dgm:pt>
    <dgm:pt modelId="{75D72160-E561-4399-9566-C4AD4C85306C}" type="sibTrans" cxnId="{33509ECD-E110-4EF1-871D-2F53A0E0C77F}">
      <dgm:prSet/>
      <dgm:spPr/>
      <dgm:t>
        <a:bodyPr/>
        <a:lstStyle/>
        <a:p>
          <a:endParaRPr lang="en-US"/>
        </a:p>
      </dgm:t>
    </dgm:pt>
    <dgm:pt modelId="{A09B680C-3E2E-4581-8EC8-464ACCE946AD}">
      <dgm:prSet/>
      <dgm:spPr/>
      <dgm:t>
        <a:bodyPr/>
        <a:lstStyle/>
        <a:p>
          <a:r>
            <a:rPr lang="pl-PL"/>
            <a:t>3. Usunięcie znalezionych trójkątów.</a:t>
          </a:r>
          <a:endParaRPr lang="en-US"/>
        </a:p>
      </dgm:t>
    </dgm:pt>
    <dgm:pt modelId="{A3320D47-36AB-4C80-A239-E2BE74DB2DFE}" type="parTrans" cxnId="{EF2E7001-22FE-4DB6-9B51-EE2385B53385}">
      <dgm:prSet/>
      <dgm:spPr/>
      <dgm:t>
        <a:bodyPr/>
        <a:lstStyle/>
        <a:p>
          <a:endParaRPr lang="en-US"/>
        </a:p>
      </dgm:t>
    </dgm:pt>
    <dgm:pt modelId="{FAB0F11C-F779-4C5B-A8E6-A250C05978FE}" type="sibTrans" cxnId="{EF2E7001-22FE-4DB6-9B51-EE2385B53385}">
      <dgm:prSet/>
      <dgm:spPr/>
      <dgm:t>
        <a:bodyPr/>
        <a:lstStyle/>
        <a:p>
          <a:endParaRPr lang="en-US"/>
        </a:p>
      </dgm:t>
    </dgm:pt>
    <dgm:pt modelId="{FB04E11F-1E04-4E04-B4E4-AB240852025F}">
      <dgm:prSet/>
      <dgm:spPr/>
      <dgm:t>
        <a:bodyPr/>
        <a:lstStyle/>
        <a:p>
          <a:r>
            <a:rPr lang="pl-PL"/>
            <a:t>4. Utworzenie  nowych trójkątów spełniających warunki triangulacji Delaunay’a.</a:t>
          </a:r>
          <a:endParaRPr lang="en-US"/>
        </a:p>
      </dgm:t>
    </dgm:pt>
    <dgm:pt modelId="{5C12FA38-88DC-49D6-8359-FD04A085AFC4}" type="parTrans" cxnId="{28486B36-C866-4D76-972F-C786D39E48A8}">
      <dgm:prSet/>
      <dgm:spPr/>
      <dgm:t>
        <a:bodyPr/>
        <a:lstStyle/>
        <a:p>
          <a:endParaRPr lang="en-US"/>
        </a:p>
      </dgm:t>
    </dgm:pt>
    <dgm:pt modelId="{D610F9BC-81F2-4B5C-9F0D-ECCF24B1A5C2}" type="sibTrans" cxnId="{28486B36-C866-4D76-972F-C786D39E48A8}">
      <dgm:prSet/>
      <dgm:spPr/>
      <dgm:t>
        <a:bodyPr/>
        <a:lstStyle/>
        <a:p>
          <a:endParaRPr lang="en-US"/>
        </a:p>
      </dgm:t>
    </dgm:pt>
    <dgm:pt modelId="{BD0420E9-E0F7-40BF-9AB7-9936CB954AB1}" type="pres">
      <dgm:prSet presAssocID="{1C1F2F58-2A0D-4931-9546-CD778CF51098}" presName="linear" presStyleCnt="0">
        <dgm:presLayoutVars>
          <dgm:animLvl val="lvl"/>
          <dgm:resizeHandles val="exact"/>
        </dgm:presLayoutVars>
      </dgm:prSet>
      <dgm:spPr/>
    </dgm:pt>
    <dgm:pt modelId="{87CEBBD9-B5D2-4667-8304-EC3C1ECAF4D0}" type="pres">
      <dgm:prSet presAssocID="{EB4634C3-F1A5-4AB5-A357-A4CEBEB4081B}" presName="parentText" presStyleLbl="node1" presStyleIdx="0" presStyleCnt="4">
        <dgm:presLayoutVars>
          <dgm:chMax val="0"/>
          <dgm:bulletEnabled val="1"/>
        </dgm:presLayoutVars>
      </dgm:prSet>
      <dgm:spPr/>
    </dgm:pt>
    <dgm:pt modelId="{8FE7F3A2-0BBF-40F1-A7B0-FDC7822595DA}" type="pres">
      <dgm:prSet presAssocID="{C7090D6A-D5E4-4AAD-B7D0-7E2B22A2837D}" presName="spacer" presStyleCnt="0"/>
      <dgm:spPr/>
    </dgm:pt>
    <dgm:pt modelId="{12163712-AAE9-42E6-96F2-78227677272D}" type="pres">
      <dgm:prSet presAssocID="{183DDA4D-8382-4386-9856-C604B172A7CF}" presName="parentText" presStyleLbl="node1" presStyleIdx="1" presStyleCnt="4">
        <dgm:presLayoutVars>
          <dgm:chMax val="0"/>
          <dgm:bulletEnabled val="1"/>
        </dgm:presLayoutVars>
      </dgm:prSet>
      <dgm:spPr/>
    </dgm:pt>
    <dgm:pt modelId="{6EEF013C-C1E1-4D3C-9C89-3CB045664A78}" type="pres">
      <dgm:prSet presAssocID="{75D72160-E561-4399-9566-C4AD4C85306C}" presName="spacer" presStyleCnt="0"/>
      <dgm:spPr/>
    </dgm:pt>
    <dgm:pt modelId="{C1563ACF-D7E2-4F8E-8548-DF6394468695}" type="pres">
      <dgm:prSet presAssocID="{A09B680C-3E2E-4581-8EC8-464ACCE946AD}" presName="parentText" presStyleLbl="node1" presStyleIdx="2" presStyleCnt="4">
        <dgm:presLayoutVars>
          <dgm:chMax val="0"/>
          <dgm:bulletEnabled val="1"/>
        </dgm:presLayoutVars>
      </dgm:prSet>
      <dgm:spPr/>
    </dgm:pt>
    <dgm:pt modelId="{C4BE01D7-6A01-4AEF-BA9D-58AAFBC241DB}" type="pres">
      <dgm:prSet presAssocID="{FAB0F11C-F779-4C5B-A8E6-A250C05978FE}" presName="spacer" presStyleCnt="0"/>
      <dgm:spPr/>
    </dgm:pt>
    <dgm:pt modelId="{C446E5B6-E284-4BF9-8DF8-7E22041F1996}" type="pres">
      <dgm:prSet presAssocID="{FB04E11F-1E04-4E04-B4E4-AB240852025F}" presName="parentText" presStyleLbl="node1" presStyleIdx="3" presStyleCnt="4">
        <dgm:presLayoutVars>
          <dgm:chMax val="0"/>
          <dgm:bulletEnabled val="1"/>
        </dgm:presLayoutVars>
      </dgm:prSet>
      <dgm:spPr/>
    </dgm:pt>
  </dgm:ptLst>
  <dgm:cxnLst>
    <dgm:cxn modelId="{EF2E7001-22FE-4DB6-9B51-EE2385B53385}" srcId="{1C1F2F58-2A0D-4931-9546-CD778CF51098}" destId="{A09B680C-3E2E-4581-8EC8-464ACCE946AD}" srcOrd="2" destOrd="0" parTransId="{A3320D47-36AB-4C80-A239-E2BE74DB2DFE}" sibTransId="{FAB0F11C-F779-4C5B-A8E6-A250C05978FE}"/>
    <dgm:cxn modelId="{DFD1AB0A-E243-4C19-A361-DB2ED6667C16}" type="presOf" srcId="{183DDA4D-8382-4386-9856-C604B172A7CF}" destId="{12163712-AAE9-42E6-96F2-78227677272D}" srcOrd="0" destOrd="0" presId="urn:microsoft.com/office/officeart/2005/8/layout/vList2"/>
    <dgm:cxn modelId="{28486B36-C866-4D76-972F-C786D39E48A8}" srcId="{1C1F2F58-2A0D-4931-9546-CD778CF51098}" destId="{FB04E11F-1E04-4E04-B4E4-AB240852025F}" srcOrd="3" destOrd="0" parTransId="{5C12FA38-88DC-49D6-8359-FD04A085AFC4}" sibTransId="{D610F9BC-81F2-4B5C-9F0D-ECCF24B1A5C2}"/>
    <dgm:cxn modelId="{186B36A1-5663-4EAF-B35C-358E0D812BD7}" type="presOf" srcId="{A09B680C-3E2E-4581-8EC8-464ACCE946AD}" destId="{C1563ACF-D7E2-4F8E-8548-DF6394468695}" srcOrd="0" destOrd="0" presId="urn:microsoft.com/office/officeart/2005/8/layout/vList2"/>
    <dgm:cxn modelId="{EA02D5CC-8F4A-4697-970E-A718407583EE}" type="presOf" srcId="{EB4634C3-F1A5-4AB5-A357-A4CEBEB4081B}" destId="{87CEBBD9-B5D2-4667-8304-EC3C1ECAF4D0}" srcOrd="0" destOrd="0" presId="urn:microsoft.com/office/officeart/2005/8/layout/vList2"/>
    <dgm:cxn modelId="{33509ECD-E110-4EF1-871D-2F53A0E0C77F}" srcId="{1C1F2F58-2A0D-4931-9546-CD778CF51098}" destId="{183DDA4D-8382-4386-9856-C604B172A7CF}" srcOrd="1" destOrd="0" parTransId="{0C68ACE1-8929-4F60-8CA6-610D4F92962D}" sibTransId="{75D72160-E561-4399-9566-C4AD4C85306C}"/>
    <dgm:cxn modelId="{B6D602D0-E825-4D27-B36D-D477D5540DE9}" srcId="{1C1F2F58-2A0D-4931-9546-CD778CF51098}" destId="{EB4634C3-F1A5-4AB5-A357-A4CEBEB4081B}" srcOrd="0" destOrd="0" parTransId="{3728A3CD-0770-479B-874C-1516D6EFA4EB}" sibTransId="{C7090D6A-D5E4-4AAD-B7D0-7E2B22A2837D}"/>
    <dgm:cxn modelId="{CD7A4DE7-C592-4C07-A9AE-948BCC1963E5}" type="presOf" srcId="{FB04E11F-1E04-4E04-B4E4-AB240852025F}" destId="{C446E5B6-E284-4BF9-8DF8-7E22041F1996}" srcOrd="0" destOrd="0" presId="urn:microsoft.com/office/officeart/2005/8/layout/vList2"/>
    <dgm:cxn modelId="{82FE5DF0-FF07-4172-9EA1-47B0EB32C1CC}" type="presOf" srcId="{1C1F2F58-2A0D-4931-9546-CD778CF51098}" destId="{BD0420E9-E0F7-40BF-9AB7-9936CB954AB1}" srcOrd="0" destOrd="0" presId="urn:microsoft.com/office/officeart/2005/8/layout/vList2"/>
    <dgm:cxn modelId="{2E2CA353-A610-4033-BBB2-4FAE70F56E99}" type="presParOf" srcId="{BD0420E9-E0F7-40BF-9AB7-9936CB954AB1}" destId="{87CEBBD9-B5D2-4667-8304-EC3C1ECAF4D0}" srcOrd="0" destOrd="0" presId="urn:microsoft.com/office/officeart/2005/8/layout/vList2"/>
    <dgm:cxn modelId="{D8EF9654-EC1E-4DCD-993C-78E36D5679C4}" type="presParOf" srcId="{BD0420E9-E0F7-40BF-9AB7-9936CB954AB1}" destId="{8FE7F3A2-0BBF-40F1-A7B0-FDC7822595DA}" srcOrd="1" destOrd="0" presId="urn:microsoft.com/office/officeart/2005/8/layout/vList2"/>
    <dgm:cxn modelId="{B5B354A9-124C-4295-8732-9DCEEB76C121}" type="presParOf" srcId="{BD0420E9-E0F7-40BF-9AB7-9936CB954AB1}" destId="{12163712-AAE9-42E6-96F2-78227677272D}" srcOrd="2" destOrd="0" presId="urn:microsoft.com/office/officeart/2005/8/layout/vList2"/>
    <dgm:cxn modelId="{E073BD6A-B1B7-43CC-90EE-0BF2FD4CBD96}" type="presParOf" srcId="{BD0420E9-E0F7-40BF-9AB7-9936CB954AB1}" destId="{6EEF013C-C1E1-4D3C-9C89-3CB045664A78}" srcOrd="3" destOrd="0" presId="urn:microsoft.com/office/officeart/2005/8/layout/vList2"/>
    <dgm:cxn modelId="{4CFD74F2-8D9F-443B-8C8B-901E42E67F89}" type="presParOf" srcId="{BD0420E9-E0F7-40BF-9AB7-9936CB954AB1}" destId="{C1563ACF-D7E2-4F8E-8548-DF6394468695}" srcOrd="4" destOrd="0" presId="urn:microsoft.com/office/officeart/2005/8/layout/vList2"/>
    <dgm:cxn modelId="{F3C31BCD-EC4F-4531-A0E2-DB80F2476C3F}" type="presParOf" srcId="{BD0420E9-E0F7-40BF-9AB7-9936CB954AB1}" destId="{C4BE01D7-6A01-4AEF-BA9D-58AAFBC241DB}" srcOrd="5" destOrd="0" presId="urn:microsoft.com/office/officeart/2005/8/layout/vList2"/>
    <dgm:cxn modelId="{D1EE108E-2D68-4B3C-B968-E603765B25F5}" type="presParOf" srcId="{BD0420E9-E0F7-40BF-9AB7-9936CB954AB1}" destId="{C446E5B6-E284-4BF9-8DF8-7E22041F199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0EB81A-1B80-40C2-B328-7B500FB4E251}">
      <dsp:nvSpPr>
        <dsp:cNvPr id="0" name=""/>
        <dsp:cNvSpPr/>
      </dsp:nvSpPr>
      <dsp:spPr>
        <a:xfrm>
          <a:off x="1205" y="815211"/>
          <a:ext cx="2570744" cy="15424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1. Wstępna triangulacja</a:t>
          </a:r>
          <a:endParaRPr lang="en-US" sz="2600" kern="1200"/>
        </a:p>
      </dsp:txBody>
      <dsp:txXfrm>
        <a:off x="46382" y="860388"/>
        <a:ext cx="2480390" cy="1452092"/>
      </dsp:txXfrm>
    </dsp:sp>
    <dsp:sp modelId="{D0A0CCC2-B1D9-4125-9E05-83D0641045E4}">
      <dsp:nvSpPr>
        <dsp:cNvPr id="0" name=""/>
        <dsp:cNvSpPr/>
      </dsp:nvSpPr>
      <dsp:spPr>
        <a:xfrm>
          <a:off x="2798176" y="1267662"/>
          <a:ext cx="544997" cy="63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798176" y="1395171"/>
        <a:ext cx="381498" cy="382526"/>
      </dsp:txXfrm>
    </dsp:sp>
    <dsp:sp modelId="{82F22665-7FDA-4BCF-A795-A14F3A9C9DDF}">
      <dsp:nvSpPr>
        <dsp:cNvPr id="0" name=""/>
        <dsp:cNvSpPr/>
      </dsp:nvSpPr>
      <dsp:spPr>
        <a:xfrm>
          <a:off x="3600248" y="815211"/>
          <a:ext cx="2570744" cy="15424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2. Odzyskiwanie krawędzi</a:t>
          </a:r>
          <a:endParaRPr lang="en-US" sz="2600" kern="1200"/>
        </a:p>
      </dsp:txBody>
      <dsp:txXfrm>
        <a:off x="3645425" y="860388"/>
        <a:ext cx="2480390" cy="1452092"/>
      </dsp:txXfrm>
    </dsp:sp>
    <dsp:sp modelId="{DDDD99AC-2309-4BB3-966A-840691B0793D}">
      <dsp:nvSpPr>
        <dsp:cNvPr id="0" name=""/>
        <dsp:cNvSpPr/>
      </dsp:nvSpPr>
      <dsp:spPr>
        <a:xfrm rot="5400000">
          <a:off x="4613122" y="2537610"/>
          <a:ext cx="544997" cy="63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5400000">
        <a:off x="4694358" y="2583884"/>
        <a:ext cx="382526" cy="381498"/>
      </dsp:txXfrm>
    </dsp:sp>
    <dsp:sp modelId="{D1DE5937-026B-4421-B778-24BC2658AF2E}">
      <dsp:nvSpPr>
        <dsp:cNvPr id="0" name=""/>
        <dsp:cNvSpPr/>
      </dsp:nvSpPr>
      <dsp:spPr>
        <a:xfrm>
          <a:off x="3600248" y="3385956"/>
          <a:ext cx="2570744" cy="15424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pl-PL" sz="2600" kern="1200"/>
            <a:t>3. Usuwanie trójkątów zewnętrznych</a:t>
          </a:r>
        </a:p>
      </dsp:txBody>
      <dsp:txXfrm>
        <a:off x="3645425" y="3431133"/>
        <a:ext cx="2480390" cy="14520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EBBD9-B5D2-4667-8304-EC3C1ECAF4D0}">
      <dsp:nvSpPr>
        <dsp:cNvPr id="0" name=""/>
        <dsp:cNvSpPr/>
      </dsp:nvSpPr>
      <dsp:spPr>
        <a:xfrm>
          <a:off x="0" y="98198"/>
          <a:ext cx="6172199" cy="13392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1. Znalezienie trójkąta, w którym zawiera się punkt.</a:t>
          </a:r>
          <a:endParaRPr lang="en-US" sz="2200" kern="1200"/>
        </a:p>
      </dsp:txBody>
      <dsp:txXfrm>
        <a:off x="65378" y="163576"/>
        <a:ext cx="6041443" cy="1208528"/>
      </dsp:txXfrm>
    </dsp:sp>
    <dsp:sp modelId="{12163712-AAE9-42E6-96F2-78227677272D}">
      <dsp:nvSpPr>
        <dsp:cNvPr id="0" name=""/>
        <dsp:cNvSpPr/>
      </dsp:nvSpPr>
      <dsp:spPr>
        <a:xfrm>
          <a:off x="0" y="1500843"/>
          <a:ext cx="6172199" cy="1339284"/>
        </a:xfrm>
        <a:prstGeom prst="roundRect">
          <a:avLst/>
        </a:prstGeom>
        <a:solidFill>
          <a:schemeClr val="accent2">
            <a:hueOff val="490014"/>
            <a:satOff val="-2097"/>
            <a:lumOff val="14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2. Znalezienie trójkątów, których okręgi opisane zwierają wstawiony punkt.</a:t>
          </a:r>
          <a:endParaRPr lang="en-US" sz="2200" kern="1200"/>
        </a:p>
      </dsp:txBody>
      <dsp:txXfrm>
        <a:off x="65378" y="1566221"/>
        <a:ext cx="6041443" cy="1208528"/>
      </dsp:txXfrm>
    </dsp:sp>
    <dsp:sp modelId="{C1563ACF-D7E2-4F8E-8548-DF6394468695}">
      <dsp:nvSpPr>
        <dsp:cNvPr id="0" name=""/>
        <dsp:cNvSpPr/>
      </dsp:nvSpPr>
      <dsp:spPr>
        <a:xfrm>
          <a:off x="0" y="2903487"/>
          <a:ext cx="6172199" cy="1339284"/>
        </a:xfrm>
        <a:prstGeom prst="roundRect">
          <a:avLst/>
        </a:prstGeom>
        <a:solidFill>
          <a:schemeClr val="accent2">
            <a:hueOff val="980028"/>
            <a:satOff val="-4193"/>
            <a:lumOff val="28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3. Usunięcie znalezionych trójkątów.</a:t>
          </a:r>
          <a:endParaRPr lang="en-US" sz="2200" kern="1200"/>
        </a:p>
      </dsp:txBody>
      <dsp:txXfrm>
        <a:off x="65378" y="2968865"/>
        <a:ext cx="6041443" cy="1208528"/>
      </dsp:txXfrm>
    </dsp:sp>
    <dsp:sp modelId="{C446E5B6-E284-4BF9-8DF8-7E22041F1996}">
      <dsp:nvSpPr>
        <dsp:cNvPr id="0" name=""/>
        <dsp:cNvSpPr/>
      </dsp:nvSpPr>
      <dsp:spPr>
        <a:xfrm>
          <a:off x="0" y="4306131"/>
          <a:ext cx="6172199" cy="1339284"/>
        </a:xfrm>
        <a:prstGeom prst="roundRect">
          <a:avLst/>
        </a:prstGeom>
        <a:solidFill>
          <a:schemeClr val="accent2">
            <a:hueOff val="1470042"/>
            <a:satOff val="-6290"/>
            <a:lumOff val="43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pl-PL" sz="2200" kern="1200"/>
            <a:t>4. Utworzenie  nowych trójkątów spełniających warunki triangulacji Delaunay’a.</a:t>
          </a:r>
          <a:endParaRPr lang="en-US" sz="2200" kern="1200"/>
        </a:p>
      </dsp:txBody>
      <dsp:txXfrm>
        <a:off x="65378" y="4371509"/>
        <a:ext cx="6041443" cy="12085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6:30.312"/>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0 1,'5498'8150,"-5489"-8136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6:50.139"/>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1 1,'1277'6570,"-1273"-6547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7:17.650"/>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1442 1,'-1438'6767,"1434"-6750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7:48.251"/>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1 46,'2573'-45,"-2554"45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7:59.858"/>
    </inkml:context>
    <inkml:brush xml:id="br0">
      <inkml:brushProperty name="width" value="0.2" units="cm"/>
      <inkml:brushProperty name="height" value="0.4" units="cm"/>
      <inkml:brushProperty name="color" value="#FF8517"/>
      <inkml:brushProperty name="tip" value="rectangle"/>
      <inkml:brushProperty name="rasterOp" value="maskPen"/>
      <inkml:brushProperty name="ignorePressure" value="1"/>
    </inkml:brush>
  </inkml:definitions>
  <inkml:trace contextRef="#ctx0" brushRef="#br0">1 1,'3932'1277,"-3912"-1270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8:46.01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1,'1313'3814,"-1306"-3793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9:02.795"/>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0,'3974'3974,"-3963"-3962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9:16.841"/>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1,'0'2486,"0"-2463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02T15:09:29.27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2620 0,'-2608'2608,"2597"-2597</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65B910DF-B555-4D30-B35E-2297D59E32D0}" type="datetime1">
              <a:rPr lang="en-US" smtClean="0"/>
              <a:t>1/2/2024</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3548691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2pPr marL="685800" indent="-228600">
              <a:buFont typeface="Courier New" panose="02070309020205020404" pitchFamily="49" charset="0"/>
              <a:buChar char="o"/>
              <a:defRPr/>
            </a:lvl2pPr>
            <a:lvl4pPr marL="1600200" indent="-228600">
              <a:buFont typeface="Courier New" panose="02070309020205020404" pitchFamily="49" charset="0"/>
              <a:buChar char="o"/>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0DF2F1F9-9322-493A-A9EE-BB75692CE5F5}" type="datetime1">
              <a:rPr lang="en-US" smtClean="0"/>
              <a:t>1/2/2024</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1148191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7858DE51-4D5E-4D23-8181-86A5B05D5351}" type="datetime1">
              <a:rPr lang="en-US" smtClean="0"/>
              <a:t>1/2/2024</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3471997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9C399FCA-87F3-427A-B1A2-15346103C68A}" type="datetime1">
              <a:rPr lang="en-US" smtClean="0"/>
              <a:t>1/2/2024</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350401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693DF709-7E2D-49E6-A629-D8E3363D194F}" type="datetime1">
              <a:rPr lang="en-US" smtClean="0"/>
              <a:t>1/2/2024</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1593956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85D0A921-9375-4BAA-A7C2-7975528669FA}" type="datetime1">
              <a:rPr lang="en-US" smtClean="0"/>
              <a:t>1/2/2024</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717095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5D25425-F285-48AE-A409-A618E3EEA628}" type="datetime1">
              <a:rPr lang="en-US" smtClean="0"/>
              <a:t>1/2/2024</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257486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EB56A94D-7D6A-4378-93F6-A3A33186E34B}" type="datetime1">
              <a:rPr lang="en-US" smtClean="0"/>
              <a:t>1/2/2024</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4183373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285FC0F9-687B-4417-9D77-CE2D7AD8C321}" type="datetime1">
              <a:rPr lang="en-US" smtClean="0"/>
              <a:t>1/2/2024</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3125492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29D1D79F-E600-4AC1-A639-0B9FB8286C38}" type="datetime1">
              <a:rPr lang="en-US" smtClean="0"/>
              <a:t>1/2/2024</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215108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390F5D60-A842-4D08-9D7D-A7A57AB501A2}" type="datetime1">
              <a:rPr lang="en-US" smtClean="0"/>
              <a:t>1/2/2024</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a:p>
        </p:txBody>
      </p:sp>
    </p:spTree>
    <p:extLst>
      <p:ext uri="{BB962C8B-B14F-4D97-AF65-F5344CB8AC3E}">
        <p14:creationId xmlns:p14="http://schemas.microsoft.com/office/powerpoint/2010/main" val="1886359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p:nvPr/>
        </p:nvGrpSpPr>
        <p:grpSpPr>
          <a:xfrm>
            <a:off x="175990" y="62886"/>
            <a:ext cx="11708355" cy="6301715"/>
            <a:chOff x="175990" y="62886"/>
            <a:chExt cx="11708355" cy="6301715"/>
          </a:xfrm>
        </p:grpSpPr>
        <p:sp useBgFill="1">
          <p:nvSpPr>
            <p:cNvPr id="18" name="Graphic 10">
              <a:extLst>
                <a:ext uri="{FF2B5EF4-FFF2-40B4-BE49-F238E27FC236}">
                  <a16:creationId xmlns:a16="http://schemas.microsoft.com/office/drawing/2014/main" id="{EAFF5F08-677C-4873-9274-02B6FE751044}"/>
                </a:ext>
              </a:extLst>
            </p:cNvPr>
            <p:cNvSpPr/>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9" name="Graphic 10">
              <a:extLst>
                <a:ext uri="{FF2B5EF4-FFF2-40B4-BE49-F238E27FC236}">
                  <a16:creationId xmlns:a16="http://schemas.microsoft.com/office/drawing/2014/main" id="{16514C65-F179-4953-B660-5FC657697957}"/>
                </a:ext>
              </a:extLst>
            </p:cNvPr>
            <p:cNvSpPr/>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0" name="Graphic 10">
              <a:extLst>
                <a:ext uri="{FF2B5EF4-FFF2-40B4-BE49-F238E27FC236}">
                  <a16:creationId xmlns:a16="http://schemas.microsoft.com/office/drawing/2014/main" id="{DF5DA89C-9FED-4AE0-8C36-20612E77FAC0}"/>
                </a:ext>
              </a:extLst>
            </p:cNvPr>
            <p:cNvSpPr/>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1" name="Oval 20">
              <a:extLst>
                <a:ext uri="{FF2B5EF4-FFF2-40B4-BE49-F238E27FC236}">
                  <a16:creationId xmlns:a16="http://schemas.microsoft.com/office/drawing/2014/main" id="{FB98224C-F1DB-4F10-9B7F-93B86BA13F40}"/>
                </a:ext>
              </a:extLst>
            </p:cNvPr>
            <p:cNvSpPr/>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2" name="Oval 21">
              <a:extLst>
                <a:ext uri="{FF2B5EF4-FFF2-40B4-BE49-F238E27FC236}">
                  <a16:creationId xmlns:a16="http://schemas.microsoft.com/office/drawing/2014/main" id="{9AE1FC9E-06C9-4A12-8BE7-766C3DA8B9AC}"/>
                </a:ext>
              </a:extLst>
            </p:cNvPr>
            <p:cNvSpPr/>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29954B75-D8C7-439C-A014-E644E3E2C0A5}"/>
                </a:ext>
              </a:extLst>
            </p:cNvPr>
            <p:cNvSpPr/>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B32DFD30-2122-4F4A-97B4-D0A849E36C5F}" type="datetime1">
              <a:rPr lang="en-US" smtClean="0"/>
              <a:t>1/2/2024</a:t>
            </a:fld>
            <a:endParaRPr lang="en-US"/>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cap="all" spc="150" baseline="0">
                <a:solidFill>
                  <a:schemeClr val="tx1">
                    <a:tint val="7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900" cap="all" spc="150" baseline="0">
                <a:solidFill>
                  <a:schemeClr val="tx1">
                    <a:tint val="75000"/>
                  </a:schemeClr>
                </a:solidFill>
              </a:defRPr>
            </a:lvl1pPr>
          </a:lstStyle>
          <a:p>
            <a:fld id="{DFA5D71E-5CDF-4C93-8A75-5B916FDC5BEA}" type="slidenum">
              <a:rPr lang="en-US" smtClean="0"/>
              <a:pPr/>
              <a:t>‹#›</a:t>
            </a:fld>
            <a:endParaRPr lang="en-US"/>
          </a:p>
        </p:txBody>
      </p:sp>
    </p:spTree>
    <p:extLst>
      <p:ext uri="{BB962C8B-B14F-4D97-AF65-F5344CB8AC3E}">
        <p14:creationId xmlns:p14="http://schemas.microsoft.com/office/powerpoint/2010/main" val="75071965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6.png"/><Relationship Id="rId18" Type="http://schemas.openxmlformats.org/officeDocument/2006/relationships/customXml" Target="../ink/ink8.xml"/><Relationship Id="rId3" Type="http://schemas.openxmlformats.org/officeDocument/2006/relationships/image" Target="../media/image11.png"/><Relationship Id="rId21" Type="http://schemas.openxmlformats.org/officeDocument/2006/relationships/image" Target="../media/image20.png"/><Relationship Id="rId7" Type="http://schemas.openxmlformats.org/officeDocument/2006/relationships/image" Target="../media/image13.png"/><Relationship Id="rId12" Type="http://schemas.openxmlformats.org/officeDocument/2006/relationships/customXml" Target="../ink/ink5.xml"/><Relationship Id="rId17" Type="http://schemas.openxmlformats.org/officeDocument/2006/relationships/image" Target="../media/image18.png"/><Relationship Id="rId2" Type="http://schemas.openxmlformats.org/officeDocument/2006/relationships/image" Target="../media/image10.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5.png"/><Relationship Id="rId5" Type="http://schemas.openxmlformats.org/officeDocument/2006/relationships/image" Target="../media/image12.png"/><Relationship Id="rId15" Type="http://schemas.openxmlformats.org/officeDocument/2006/relationships/image" Target="../media/image17.png"/><Relationship Id="rId10" Type="http://schemas.openxmlformats.org/officeDocument/2006/relationships/customXml" Target="../ink/ink4.xml"/><Relationship Id="rId19" Type="http://schemas.openxmlformats.org/officeDocument/2006/relationships/image" Target="../media/image19.png"/><Relationship Id="rId4" Type="http://schemas.openxmlformats.org/officeDocument/2006/relationships/customXml" Target="../ink/ink1.xml"/><Relationship Id="rId9" Type="http://schemas.openxmlformats.org/officeDocument/2006/relationships/image" Target="../media/image14.png"/><Relationship Id="rId14" Type="http://schemas.openxmlformats.org/officeDocument/2006/relationships/customXml" Target="../ink/ink6.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3.cs.jmu.edu/bowersjc/page/courses/spring17/cs480/labs/dcel/" TargetMode="External"/><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hyperlink" Target="https://cs184.eecs.berkeley.edu/sp19/article/15/the-half-edge-data-structu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pic>
        <p:nvPicPr>
          <p:cNvPr id="4" name="Picture 3" descr="Sieć połączonych kropek">
            <a:extLst>
              <a:ext uri="{FF2B5EF4-FFF2-40B4-BE49-F238E27FC236}">
                <a16:creationId xmlns:a16="http://schemas.microsoft.com/office/drawing/2014/main" id="{2D4D5130-BE36-497E-87A2-B4277BE98D32}"/>
              </a:ext>
            </a:extLst>
          </p:cNvPr>
          <p:cNvPicPr>
            <a:picLocks noChangeAspect="1"/>
          </p:cNvPicPr>
          <p:nvPr/>
        </p:nvPicPr>
        <p:blipFill rotWithShape="1">
          <a:blip r:embed="rId2"/>
          <a:srcRect l="20444" r="1" b="1"/>
          <a:stretch/>
        </p:blipFill>
        <p:spPr>
          <a:xfrm>
            <a:off x="20" y="10"/>
            <a:ext cx="12191980" cy="6857989"/>
          </a:xfrm>
          <a:prstGeom prst="rect">
            <a:avLst/>
          </a:prstGeom>
        </p:spPr>
      </p:pic>
      <p:grpSp>
        <p:nvGrpSpPr>
          <p:cNvPr id="11" name="Group 10">
            <a:extLst>
              <a:ext uri="{FF2B5EF4-FFF2-40B4-BE49-F238E27FC236}">
                <a16:creationId xmlns:a16="http://schemas.microsoft.com/office/drawing/2014/main" id="{E2F6F869-F143-4607-BEE5-AA6FEB71E1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29" y="254882"/>
            <a:ext cx="2063695" cy="2594445"/>
            <a:chOff x="438029" y="254882"/>
            <a:chExt cx="2063695" cy="2594445"/>
          </a:xfrm>
        </p:grpSpPr>
        <p:sp useBgFill="1">
          <p:nvSpPr>
            <p:cNvPr id="12" name="Graphic 10">
              <a:extLst>
                <a:ext uri="{FF2B5EF4-FFF2-40B4-BE49-F238E27FC236}">
                  <a16:creationId xmlns:a16="http://schemas.microsoft.com/office/drawing/2014/main" id="{C75470B2-BBA7-4280-A6F6-FAE9E9F1C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559425" y="995030"/>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9A54C6CC-DDAA-4A39-ADF6-3C8475C5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286000" y="1378534"/>
              <a:ext cx="215724" cy="21572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Oval 13">
              <a:extLst>
                <a:ext uri="{FF2B5EF4-FFF2-40B4-BE49-F238E27FC236}">
                  <a16:creationId xmlns:a16="http://schemas.microsoft.com/office/drawing/2014/main" id="{714358CC-CF77-4F38-89E2-D6A3ABD0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8029" y="254882"/>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0CB44DA0-4772-4F1E-982F-12BAC7C58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38200" y="2514942"/>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17" name="Rectangle 16">
            <a:extLst>
              <a:ext uri="{FF2B5EF4-FFF2-40B4-BE49-F238E27FC236}">
                <a16:creationId xmlns:a16="http://schemas.microsoft.com/office/drawing/2014/main" id="{816D4481-06E0-406F-B2B0-A78607E35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accent2">
              <a:alpha val="40000"/>
            </a:schemeClr>
          </a:solidFill>
          <a:ln w="3848" cap="flat">
            <a:noFill/>
            <a:prstDash val="solid"/>
            <a:miter/>
          </a:ln>
          <a:effectLst/>
        </p:spPr>
        <p:txBody>
          <a:bodyPr rtlCol="0" anchor="ctr"/>
          <a:lstStyle/>
          <a:p>
            <a:endParaRPr lang="en-US">
              <a:solidFill>
                <a:schemeClr val="tx1"/>
              </a:solidFill>
            </a:endParaRPr>
          </a:p>
        </p:txBody>
      </p:sp>
      <p:sp>
        <p:nvSpPr>
          <p:cNvPr id="2" name="Tytuł 1">
            <a:extLst>
              <a:ext uri="{FF2B5EF4-FFF2-40B4-BE49-F238E27FC236}">
                <a16:creationId xmlns:a16="http://schemas.microsoft.com/office/drawing/2014/main" id="{86E9A729-81F5-45BC-88BD-AAAF55828601}"/>
              </a:ext>
            </a:extLst>
          </p:cNvPr>
          <p:cNvSpPr>
            <a:spLocks noGrp="1"/>
          </p:cNvSpPr>
          <p:nvPr>
            <p:ph type="ctrTitle"/>
          </p:nvPr>
        </p:nvSpPr>
        <p:spPr>
          <a:xfrm>
            <a:off x="1524000" y="728905"/>
            <a:ext cx="9144000" cy="3184274"/>
          </a:xfrm>
        </p:spPr>
        <p:txBody>
          <a:bodyPr>
            <a:normAutofit/>
          </a:bodyPr>
          <a:lstStyle/>
          <a:p>
            <a:r>
              <a:rPr lang="pl-PL" b="1">
                <a:latin typeface="Arial Black" panose="020B0A04020102020204" pitchFamily="34" charset="0"/>
              </a:rPr>
              <a:t>Triangulacja wielokąta prostego – porównanie metod</a:t>
            </a:r>
          </a:p>
        </p:txBody>
      </p:sp>
      <p:sp>
        <p:nvSpPr>
          <p:cNvPr id="3" name="Podtytuł 2">
            <a:extLst>
              <a:ext uri="{FF2B5EF4-FFF2-40B4-BE49-F238E27FC236}">
                <a16:creationId xmlns:a16="http://schemas.microsoft.com/office/drawing/2014/main" id="{1E60F6B1-897D-E5D3-0D7A-34B37E57933E}"/>
              </a:ext>
            </a:extLst>
          </p:cNvPr>
          <p:cNvSpPr>
            <a:spLocks noGrp="1"/>
          </p:cNvSpPr>
          <p:nvPr>
            <p:ph type="subTitle" idx="1"/>
          </p:nvPr>
        </p:nvSpPr>
        <p:spPr>
          <a:xfrm>
            <a:off x="1524000" y="4072044"/>
            <a:ext cx="9144000" cy="1722266"/>
          </a:xfrm>
        </p:spPr>
        <p:txBody>
          <a:bodyPr vert="horz" lIns="91440" tIns="45720" rIns="91440" bIns="45720" rtlCol="0" anchor="t">
            <a:normAutofit/>
          </a:bodyPr>
          <a:lstStyle/>
          <a:p>
            <a:r>
              <a:rPr lang="pl-PL" sz="2200" b="1" i="1">
                <a:latin typeface="Arial Black" panose="020B0A04020102020204" pitchFamily="34" charset="0"/>
              </a:rPr>
              <a:t>Projekt nr 7</a:t>
            </a:r>
          </a:p>
          <a:p>
            <a:r>
              <a:rPr lang="pl-PL" sz="2200" b="1" i="1">
                <a:latin typeface="Arial Black"/>
              </a:rPr>
              <a:t>Robert Mesek</a:t>
            </a:r>
          </a:p>
          <a:p>
            <a:r>
              <a:rPr lang="pl-PL" sz="2200" b="1" i="1">
                <a:latin typeface="Arial Black" panose="020B0A04020102020204" pitchFamily="34" charset="0"/>
              </a:rPr>
              <a:t>Wojciech Kaźmierczak</a:t>
            </a:r>
          </a:p>
          <a:p>
            <a:r>
              <a:rPr lang="pl-PL" sz="2200" b="1" i="1">
                <a:latin typeface="Arial Black" panose="020B0A04020102020204" pitchFamily="34" charset="0"/>
              </a:rPr>
              <a:t>Grupa 4</a:t>
            </a:r>
          </a:p>
        </p:txBody>
      </p:sp>
    </p:spTree>
    <p:extLst>
      <p:ext uri="{BB962C8B-B14F-4D97-AF65-F5344CB8AC3E}">
        <p14:creationId xmlns:p14="http://schemas.microsoft.com/office/powerpoint/2010/main" val="4144412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D5EDD94-EB75-03D1-A552-3686D959D0ED}"/>
              </a:ext>
            </a:extLst>
          </p:cNvPr>
          <p:cNvSpPr>
            <a:spLocks noGrp="1"/>
          </p:cNvSpPr>
          <p:nvPr>
            <p:ph type="title"/>
          </p:nvPr>
        </p:nvSpPr>
        <p:spPr/>
        <p:txBody>
          <a:bodyPr/>
          <a:lstStyle/>
          <a:p>
            <a:r>
              <a:rPr lang="pl-PL"/>
              <a:t>Czym jest triangulacja?</a:t>
            </a:r>
          </a:p>
        </p:txBody>
      </p:sp>
      <p:sp>
        <p:nvSpPr>
          <p:cNvPr id="3" name="Symbol zastępczy zawartości 2">
            <a:extLst>
              <a:ext uri="{FF2B5EF4-FFF2-40B4-BE49-F238E27FC236}">
                <a16:creationId xmlns:a16="http://schemas.microsoft.com/office/drawing/2014/main" id="{386DAF63-CD96-5B4A-18A4-C03953893F3F}"/>
              </a:ext>
            </a:extLst>
          </p:cNvPr>
          <p:cNvSpPr>
            <a:spLocks noGrp="1"/>
          </p:cNvSpPr>
          <p:nvPr>
            <p:ph idx="1"/>
          </p:nvPr>
        </p:nvSpPr>
        <p:spPr>
          <a:xfrm>
            <a:off x="307258" y="2101645"/>
            <a:ext cx="11046542" cy="3687097"/>
          </a:xfrm>
        </p:spPr>
        <p:txBody>
          <a:bodyPr>
            <a:normAutofit lnSpcReduction="10000"/>
          </a:bodyPr>
          <a:lstStyle/>
          <a:p>
            <a:r>
              <a:rPr lang="pl-PL" sz="2800">
                <a:latin typeface="Arial" panose="020B0604020202020204" pitchFamily="34" charset="0"/>
              </a:rPr>
              <a:t>Triangulacja wielokąta w 2D to podział</a:t>
            </a:r>
            <a:r>
              <a:rPr lang="pl-PL" sz="2800"/>
              <a:t> </a:t>
            </a:r>
            <a:r>
              <a:rPr lang="pl-PL" sz="2800">
                <a:latin typeface="Arial" panose="020B0604020202020204" pitchFamily="34" charset="0"/>
              </a:rPr>
              <a:t>wielokąta na trójkąty, których jedynymi</a:t>
            </a:r>
            <a:r>
              <a:rPr lang="pl-PL" sz="2800"/>
              <a:t> </a:t>
            </a:r>
            <a:r>
              <a:rPr lang="pl-PL" sz="2800">
                <a:latin typeface="Arial" panose="020B0604020202020204" pitchFamily="34" charset="0"/>
              </a:rPr>
              <a:t>wierzchołkami są wierzchołki wielokąta.</a:t>
            </a:r>
          </a:p>
          <a:p>
            <a:r>
              <a:rPr lang="pl-PL">
                <a:latin typeface="Arial" panose="020B0604020202020204" pitchFamily="34" charset="0"/>
              </a:rPr>
              <a:t> Istnieje wiele triangulacji tego samo wielokąta, jednak każda z nich posiadać będzie tą samą liczbę trójkątów.</a:t>
            </a:r>
            <a:endParaRPr lang="pl-PL" sz="2800" kern="150">
              <a:effectLst/>
              <a:latin typeface="Arial" panose="020B0604020202020204" pitchFamily="34" charset="0"/>
              <a:ea typeface="DejaVu Sans"/>
              <a:cs typeface="FreeSans"/>
            </a:endParaRPr>
          </a:p>
          <a:p>
            <a:r>
              <a:rPr lang="pl-PL" sz="2800">
                <a:latin typeface="Arial" panose="020B0604020202020204" pitchFamily="34" charset="0"/>
                <a:cs typeface="Arial" panose="020B0604020202020204" pitchFamily="34" charset="0"/>
              </a:rPr>
              <a:t> Dla każdego wielokąta można znaleźć jego triangulację</a:t>
            </a:r>
          </a:p>
          <a:p>
            <a:r>
              <a:rPr lang="pl-PL">
                <a:latin typeface="Arial" panose="020B0604020202020204" pitchFamily="34" charset="0"/>
                <a:cs typeface="Arial" panose="020B0604020202020204" pitchFamily="34" charset="0"/>
              </a:rPr>
              <a:t> Istnieje wiele różnych metod/algorytmów triangulacji, jednak my dzisiaj zajmiemy się dwoma metodami: </a:t>
            </a:r>
            <a:r>
              <a:rPr lang="pl-PL"/>
              <a:t>Triangulacja z wykorzystaniem wielokątów monotonicznych, Triangulacja </a:t>
            </a:r>
            <a:r>
              <a:rPr lang="pl-PL" err="1"/>
              <a:t>Delaunay’a</a:t>
            </a:r>
            <a:endParaRPr lang="pl-PL" sz="2800">
              <a:latin typeface="Arial" panose="020B0604020202020204" pitchFamily="34" charset="0"/>
              <a:cs typeface="Arial" panose="020B0604020202020204" pitchFamily="34" charset="0"/>
            </a:endParaRPr>
          </a:p>
          <a:p>
            <a:endParaRPr lang="pl-PL"/>
          </a:p>
        </p:txBody>
      </p:sp>
    </p:spTree>
    <p:extLst>
      <p:ext uri="{BB962C8B-B14F-4D97-AF65-F5344CB8AC3E}">
        <p14:creationId xmlns:p14="http://schemas.microsoft.com/office/powerpoint/2010/main" val="301536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21" name="Rectangle 20">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sp>
        <p:nvSpPr>
          <p:cNvPr id="23" name="Rectangle 22">
            <a:extLst>
              <a:ext uri="{FF2B5EF4-FFF2-40B4-BE49-F238E27FC236}">
                <a16:creationId xmlns:a16="http://schemas.microsoft.com/office/drawing/2014/main" id="{685ABF52-5DFD-457B-AE2D-751BC23FF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2"/>
            <a:ext cx="12188952"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ADC9D8C7-B9B4-4FFD-AA73-CBC051727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88" y="685800"/>
            <a:ext cx="11776003" cy="5742276"/>
            <a:chOff x="175988" y="685800"/>
            <a:chExt cx="11776003" cy="5742276"/>
          </a:xfrm>
        </p:grpSpPr>
        <p:sp>
          <p:nvSpPr>
            <p:cNvPr id="26" name="Graphic 10">
              <a:extLst>
                <a:ext uri="{FF2B5EF4-FFF2-40B4-BE49-F238E27FC236}">
                  <a16:creationId xmlns:a16="http://schemas.microsoft.com/office/drawing/2014/main" id="{73BF16FB-EB0B-4FEC-932B-144540A93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88" y="796367"/>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useBgFill="1">
          <p:nvSpPr>
            <p:cNvPr id="27" name="Graphic 10">
              <a:extLst>
                <a:ext uri="{FF2B5EF4-FFF2-40B4-BE49-F238E27FC236}">
                  <a16:creationId xmlns:a16="http://schemas.microsoft.com/office/drawing/2014/main" id="{61CE679E-A150-4B61-81B8-5FD775CC4E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793124" y="5269209"/>
              <a:ext cx="1158867" cy="115886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p:nvSpPr>
            <p:cNvPr id="28" name="Oval 27">
              <a:extLst>
                <a:ext uri="{FF2B5EF4-FFF2-40B4-BE49-F238E27FC236}">
                  <a16:creationId xmlns:a16="http://schemas.microsoft.com/office/drawing/2014/main" id="{65064892-A316-45D2-9D36-522369EE5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209800" y="1953278"/>
              <a:ext cx="261660" cy="26166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useBgFill="1">
          <p:nvSpPr>
            <p:cNvPr id="29" name="Oval 28">
              <a:extLst>
                <a:ext uri="{FF2B5EF4-FFF2-40B4-BE49-F238E27FC236}">
                  <a16:creationId xmlns:a16="http://schemas.microsoft.com/office/drawing/2014/main" id="{1B2ACA0D-2ADE-40C0-AD5B-94BE5E364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422284" y="4931360"/>
              <a:ext cx="261660" cy="26166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p:nvSpPr>
            <p:cNvPr id="30" name="Oval 29">
              <a:extLst>
                <a:ext uri="{FF2B5EF4-FFF2-40B4-BE49-F238E27FC236}">
                  <a16:creationId xmlns:a16="http://schemas.microsoft.com/office/drawing/2014/main" id="{DD4A7C13-B4D6-402F-BD18-D6B1F3C86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5401" y="685800"/>
              <a:ext cx="418430" cy="41843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1891ABC4-AEF6-6D9D-C428-2B87C4AEEE80}"/>
              </a:ext>
            </a:extLst>
          </p:cNvPr>
          <p:cNvSpPr>
            <a:spLocks noGrp="1"/>
          </p:cNvSpPr>
          <p:nvPr>
            <p:ph type="title"/>
          </p:nvPr>
        </p:nvSpPr>
        <p:spPr>
          <a:xfrm>
            <a:off x="430193" y="557189"/>
            <a:ext cx="10991529" cy="5743616"/>
          </a:xfrm>
        </p:spPr>
        <p:txBody>
          <a:bodyPr anchor="ctr">
            <a:normAutofit/>
          </a:bodyPr>
          <a:lstStyle/>
          <a:p>
            <a:pPr algn="ctr"/>
            <a:r>
              <a:rPr lang="pl-PL" u="sng">
                <a:solidFill>
                  <a:srgbClr val="FFFFFF"/>
                </a:solidFill>
              </a:rPr>
              <a:t>Metoda I</a:t>
            </a:r>
            <a:br>
              <a:rPr lang="pl-PL">
                <a:solidFill>
                  <a:srgbClr val="FFFFFF"/>
                </a:solidFill>
              </a:rPr>
            </a:br>
            <a:r>
              <a:rPr lang="pl-PL">
                <a:solidFill>
                  <a:srgbClr val="FFFFFF"/>
                </a:solidFill>
              </a:rPr>
              <a:t>Triangulacja z wykorzystaniem wielokątów monotonicznych</a:t>
            </a:r>
          </a:p>
        </p:txBody>
      </p:sp>
    </p:spTree>
    <p:extLst>
      <p:ext uri="{BB962C8B-B14F-4D97-AF65-F5344CB8AC3E}">
        <p14:creationId xmlns:p14="http://schemas.microsoft.com/office/powerpoint/2010/main" val="330546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7DD0C1E-D97F-2A89-F598-E6A3BD56A35A}"/>
              </a:ext>
            </a:extLst>
          </p:cNvPr>
          <p:cNvSpPr>
            <a:spLocks noGrp="1"/>
          </p:cNvSpPr>
          <p:nvPr>
            <p:ph type="title"/>
          </p:nvPr>
        </p:nvSpPr>
        <p:spPr>
          <a:xfrm>
            <a:off x="838200" y="752371"/>
            <a:ext cx="10515600" cy="2062579"/>
          </a:xfrm>
        </p:spPr>
        <p:txBody>
          <a:bodyPr>
            <a:noAutofit/>
          </a:bodyPr>
          <a:lstStyle/>
          <a:p>
            <a:r>
              <a:rPr lang="pl-PL" sz="3600">
                <a:ea typeface="+mj-lt"/>
                <a:cs typeface="+mj-lt"/>
              </a:rPr>
              <a:t>Celem algorytmu jest znalezienie triangulacji dowolnego wielokąta prostego. Aby to osiągnąć w tym sposobie musimy przeprowadzić kilka kroków:</a:t>
            </a:r>
            <a:endParaRPr lang="en-US" sz="3600">
              <a:ea typeface="Open sans"/>
              <a:cs typeface="Open sans"/>
            </a:endParaRPr>
          </a:p>
        </p:txBody>
      </p:sp>
      <p:sp>
        <p:nvSpPr>
          <p:cNvPr id="3" name="Symbol zastępczy zawartości 2">
            <a:extLst>
              <a:ext uri="{FF2B5EF4-FFF2-40B4-BE49-F238E27FC236}">
                <a16:creationId xmlns:a16="http://schemas.microsoft.com/office/drawing/2014/main" id="{6066B17D-0590-6477-1C53-553236425A1A}"/>
              </a:ext>
            </a:extLst>
          </p:cNvPr>
          <p:cNvSpPr>
            <a:spLocks noGrp="1"/>
          </p:cNvSpPr>
          <p:nvPr>
            <p:ph idx="1"/>
          </p:nvPr>
        </p:nvSpPr>
        <p:spPr>
          <a:xfrm>
            <a:off x="838200" y="3149755"/>
            <a:ext cx="10515600" cy="2302683"/>
          </a:xfrm>
        </p:spPr>
        <p:txBody>
          <a:bodyPr vert="horz" lIns="91440" tIns="45720" rIns="91440" bIns="45720" rtlCol="0" anchor="t">
            <a:normAutofit/>
          </a:bodyPr>
          <a:lstStyle/>
          <a:p>
            <a:r>
              <a:rPr lang="pl-PL">
                <a:ea typeface="+mn-lt"/>
                <a:cs typeface="+mn-lt"/>
              </a:rPr>
              <a:t>1. Klasyfikacja wierzchołków danego wielokąta.</a:t>
            </a:r>
            <a:endParaRPr lang="en-US">
              <a:ea typeface="+mn-lt"/>
              <a:cs typeface="+mn-lt"/>
            </a:endParaRPr>
          </a:p>
          <a:p>
            <a:r>
              <a:rPr lang="pl-PL">
                <a:ea typeface="+mn-lt"/>
                <a:cs typeface="+mn-lt"/>
              </a:rPr>
              <a:t>2. Podział wielokąta na wielokąty monotoniczne.</a:t>
            </a:r>
            <a:endParaRPr lang="pl-PL"/>
          </a:p>
          <a:p>
            <a:r>
              <a:rPr lang="pl-PL">
                <a:ea typeface="+mn-lt"/>
                <a:cs typeface="+mn-lt"/>
              </a:rPr>
              <a:t>3. Triangulacja wielokątów monotonicznych.</a:t>
            </a:r>
            <a:endParaRPr lang="pl-PL"/>
          </a:p>
        </p:txBody>
      </p:sp>
    </p:spTree>
    <p:extLst>
      <p:ext uri="{BB962C8B-B14F-4D97-AF65-F5344CB8AC3E}">
        <p14:creationId xmlns:p14="http://schemas.microsoft.com/office/powerpoint/2010/main" val="379064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10"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1"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2"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Oval 13">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17" name="Rectangle 16">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9" name="Rectangle 18">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1" name="Group 20">
            <a:extLst>
              <a:ext uri="{FF2B5EF4-FFF2-40B4-BE49-F238E27FC236}">
                <a16:creationId xmlns:a16="http://schemas.microsoft.com/office/drawing/2014/main" id="{AF7B2BB7-8E22-4794-9BDE-B71129D77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7697" y="189413"/>
            <a:ext cx="2019905" cy="1778845"/>
            <a:chOff x="207697" y="189413"/>
            <a:chExt cx="2019905" cy="1778845"/>
          </a:xfrm>
        </p:grpSpPr>
        <p:sp useBgFill="1">
          <p:nvSpPr>
            <p:cNvPr id="22" name="Graphic 10">
              <a:extLst>
                <a:ext uri="{FF2B5EF4-FFF2-40B4-BE49-F238E27FC236}">
                  <a16:creationId xmlns:a16="http://schemas.microsoft.com/office/drawing/2014/main" id="{F2CC297A-905C-42B8-BFEC-55FB2FCF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895FAF0E-8EDF-4055-9578-394F1ACB3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89661" y="1671181"/>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4" name="Oval 23">
              <a:extLst>
                <a:ext uri="{FF2B5EF4-FFF2-40B4-BE49-F238E27FC236}">
                  <a16:creationId xmlns:a16="http://schemas.microsoft.com/office/drawing/2014/main" id="{AEC4BAA7-1F27-4F25-9D16-9099BF9AC7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2017290" y="592943"/>
              <a:ext cx="210312" cy="21031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1">
            <a:extLst>
              <a:ext uri="{FF2B5EF4-FFF2-40B4-BE49-F238E27FC236}">
                <a16:creationId xmlns:a16="http://schemas.microsoft.com/office/drawing/2014/main" id="{E74A16C9-2F5D-C820-F041-935B8D92CC82}"/>
              </a:ext>
            </a:extLst>
          </p:cNvPr>
          <p:cNvSpPr>
            <a:spLocks noGrp="1"/>
          </p:cNvSpPr>
          <p:nvPr>
            <p:ph type="title"/>
          </p:nvPr>
        </p:nvSpPr>
        <p:spPr>
          <a:xfrm>
            <a:off x="298258" y="966249"/>
            <a:ext cx="4822533" cy="1860143"/>
          </a:xfrm>
        </p:spPr>
        <p:txBody>
          <a:bodyPr vert="horz" lIns="91440" tIns="45720" rIns="91440" bIns="45720" rtlCol="0" anchor="b">
            <a:normAutofit fontScale="90000"/>
          </a:bodyPr>
          <a:lstStyle/>
          <a:p>
            <a:r>
              <a:rPr lang="pl-PL" sz="4200" kern="1200">
                <a:latin typeface="+mj-lt"/>
                <a:ea typeface="+mj-ea"/>
                <a:cs typeface="+mj-cs"/>
              </a:rPr>
              <a:t>Wielokąt na którym przedstawimy</a:t>
            </a:r>
            <a:r>
              <a:rPr lang="pl-PL" sz="4200"/>
              <a:t> </a:t>
            </a:r>
            <a:br>
              <a:rPr lang="pl-PL" sz="4200"/>
            </a:br>
            <a:r>
              <a:rPr lang="pl-PL" sz="4200"/>
              <a:t>działanie</a:t>
            </a:r>
            <a:endParaRPr lang="pl-PL" sz="4200" kern="1200">
              <a:latin typeface="+mj-lt"/>
              <a:ea typeface="Open sans"/>
              <a:cs typeface="Open sans"/>
            </a:endParaRPr>
          </a:p>
        </p:txBody>
      </p:sp>
      <p:pic>
        <p:nvPicPr>
          <p:cNvPr id="4" name="Content Placeholder 3" descr="A graph with lines and numbers&#10;&#10;Description automatically generated">
            <a:extLst>
              <a:ext uri="{FF2B5EF4-FFF2-40B4-BE49-F238E27FC236}">
                <a16:creationId xmlns:a16="http://schemas.microsoft.com/office/drawing/2014/main" id="{3F8D3B85-A4FC-92EE-2D28-8BF309B4255C}"/>
              </a:ext>
            </a:extLst>
          </p:cNvPr>
          <p:cNvPicPr>
            <a:picLocks noGrp="1" noChangeAspect="1"/>
          </p:cNvPicPr>
          <p:nvPr>
            <p:ph idx="1"/>
          </p:nvPr>
        </p:nvPicPr>
        <p:blipFill>
          <a:blip r:embed="rId2"/>
          <a:stretch>
            <a:fillRect/>
          </a:stretch>
        </p:blipFill>
        <p:spPr>
          <a:xfrm>
            <a:off x="4953000" y="841230"/>
            <a:ext cx="6689185" cy="5217565"/>
          </a:xfrm>
          <a:prstGeom prst="rect">
            <a:avLst/>
          </a:prstGeom>
        </p:spPr>
      </p:pic>
      <p:sp useBgFill="1">
        <p:nvSpPr>
          <p:cNvPr id="26" name="Oval 25">
            <a:extLst>
              <a:ext uri="{FF2B5EF4-FFF2-40B4-BE49-F238E27FC236}">
                <a16:creationId xmlns:a16="http://schemas.microsoft.com/office/drawing/2014/main" id="{8333FD0A-502E-4A24-8E99-5496F09DC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70962" y="5630260"/>
            <a:ext cx="355414" cy="35541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Tree>
    <p:extLst>
      <p:ext uri="{BB962C8B-B14F-4D97-AF65-F5344CB8AC3E}">
        <p14:creationId xmlns:p14="http://schemas.microsoft.com/office/powerpoint/2010/main" val="3312455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9" name="Rectangle 18">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0" name="Group 19">
            <a:extLst>
              <a:ext uri="{FF2B5EF4-FFF2-40B4-BE49-F238E27FC236}">
                <a16:creationId xmlns:a16="http://schemas.microsoft.com/office/drawing/2014/main" id="{187DE861-9AC3-4AA5-B885-AF8EBE9480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34076" y="241085"/>
            <a:ext cx="1165681" cy="5612701"/>
            <a:chOff x="10734076" y="241085"/>
            <a:chExt cx="1165681" cy="5612701"/>
          </a:xfrm>
        </p:grpSpPr>
        <p:sp useBgFill="1">
          <p:nvSpPr>
            <p:cNvPr id="14" name="Graphic 10">
              <a:extLst>
                <a:ext uri="{FF2B5EF4-FFF2-40B4-BE49-F238E27FC236}">
                  <a16:creationId xmlns:a16="http://schemas.microsoft.com/office/drawing/2014/main" id="{D43C1A1E-DA50-4210-9A1D-5437CBFEF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891156" y="241085"/>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7691169A-6B21-4B1F-96DF-2BD6D6BA0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734076" y="1394142"/>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AFF485D7-DE5D-47EE-8B37-15E9B77B3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474676" y="5428705"/>
              <a:ext cx="425081" cy="42508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1">
            <a:extLst>
              <a:ext uri="{FF2B5EF4-FFF2-40B4-BE49-F238E27FC236}">
                <a16:creationId xmlns:a16="http://schemas.microsoft.com/office/drawing/2014/main" id="{1C06F44A-E671-4B28-CA09-D709DC94EC1D}"/>
              </a:ext>
            </a:extLst>
          </p:cNvPr>
          <p:cNvSpPr>
            <a:spLocks noGrp="1"/>
          </p:cNvSpPr>
          <p:nvPr>
            <p:ph type="title"/>
          </p:nvPr>
        </p:nvSpPr>
        <p:spPr>
          <a:xfrm>
            <a:off x="457199" y="566490"/>
            <a:ext cx="11238347" cy="1502704"/>
          </a:xfrm>
        </p:spPr>
        <p:txBody>
          <a:bodyPr anchor="ctr">
            <a:normAutofit/>
          </a:bodyPr>
          <a:lstStyle/>
          <a:p>
            <a:r>
              <a:rPr lang="pl-PL">
                <a:ea typeface="Open sans"/>
                <a:cs typeface="Open sans"/>
              </a:rPr>
              <a:t>Klasyfikacja wierzchołków</a:t>
            </a:r>
          </a:p>
        </p:txBody>
      </p:sp>
      <p:sp>
        <p:nvSpPr>
          <p:cNvPr id="3" name="Content Placeholder 2">
            <a:extLst>
              <a:ext uri="{FF2B5EF4-FFF2-40B4-BE49-F238E27FC236}">
                <a16:creationId xmlns:a16="http://schemas.microsoft.com/office/drawing/2014/main" id="{FBF83625-672A-D160-BD7A-88532FC8C7BA}"/>
              </a:ext>
            </a:extLst>
          </p:cNvPr>
          <p:cNvSpPr>
            <a:spLocks noGrp="1"/>
          </p:cNvSpPr>
          <p:nvPr>
            <p:ph idx="1"/>
          </p:nvPr>
        </p:nvSpPr>
        <p:spPr>
          <a:xfrm>
            <a:off x="457199" y="2286000"/>
            <a:ext cx="5470879" cy="4005510"/>
          </a:xfrm>
        </p:spPr>
        <p:txBody>
          <a:bodyPr vert="horz" lIns="91440" tIns="45720" rIns="91440" bIns="45720" rtlCol="0" anchor="t">
            <a:normAutofit/>
          </a:bodyPr>
          <a:lstStyle/>
          <a:p>
            <a:r>
              <a:rPr lang="pl-PL" sz="2400">
                <a:ea typeface="+mn-lt"/>
                <a:cs typeface="+mn-lt"/>
              </a:rPr>
              <a:t>    Początkowy - kolor zielony</a:t>
            </a:r>
            <a:endParaRPr lang="pl-PL" sz="2400">
              <a:ea typeface="Open sans"/>
              <a:cs typeface="Open sans"/>
            </a:endParaRPr>
          </a:p>
          <a:p>
            <a:r>
              <a:rPr lang="pl-PL" sz="2400">
                <a:ea typeface="+mn-lt"/>
                <a:cs typeface="+mn-lt"/>
              </a:rPr>
              <a:t>    Końcowy - kolor czerwony</a:t>
            </a:r>
            <a:endParaRPr lang="pl-PL" sz="2400">
              <a:ea typeface="Open sans"/>
              <a:cs typeface="Open sans"/>
            </a:endParaRPr>
          </a:p>
          <a:p>
            <a:r>
              <a:rPr lang="pl-PL" sz="2400">
                <a:ea typeface="+mn-lt"/>
                <a:cs typeface="+mn-lt"/>
              </a:rPr>
              <a:t>    Łączący - kolor niebieski</a:t>
            </a:r>
            <a:endParaRPr lang="pl-PL" sz="2400">
              <a:ea typeface="Open sans"/>
              <a:cs typeface="Open sans"/>
            </a:endParaRPr>
          </a:p>
          <a:p>
            <a:r>
              <a:rPr lang="pl-PL" sz="2400">
                <a:ea typeface="+mn-lt"/>
                <a:cs typeface="+mn-lt"/>
              </a:rPr>
              <a:t>    Dzielący - kolor cyjan</a:t>
            </a:r>
            <a:endParaRPr lang="pl-PL" sz="2400">
              <a:ea typeface="Open sans"/>
              <a:cs typeface="Open sans"/>
            </a:endParaRPr>
          </a:p>
          <a:p>
            <a:r>
              <a:rPr lang="pl-PL" sz="2400">
                <a:ea typeface="+mn-lt"/>
                <a:cs typeface="+mn-lt"/>
              </a:rPr>
              <a:t>    Prawidłowy - kolor brązowy</a:t>
            </a:r>
            <a:endParaRPr lang="pl-PL" sz="2400">
              <a:ea typeface="Open sans"/>
              <a:cs typeface="Open sans"/>
            </a:endParaRPr>
          </a:p>
        </p:txBody>
      </p:sp>
      <p:pic>
        <p:nvPicPr>
          <p:cNvPr id="4" name="Picture 3">
            <a:extLst>
              <a:ext uri="{FF2B5EF4-FFF2-40B4-BE49-F238E27FC236}">
                <a16:creationId xmlns:a16="http://schemas.microsoft.com/office/drawing/2014/main" id="{A349EF15-3015-A0F7-F781-94892EDE0203}"/>
              </a:ext>
            </a:extLst>
          </p:cNvPr>
          <p:cNvPicPr>
            <a:picLocks noChangeAspect="1"/>
          </p:cNvPicPr>
          <p:nvPr/>
        </p:nvPicPr>
        <p:blipFill>
          <a:blip r:embed="rId2"/>
          <a:stretch>
            <a:fillRect/>
          </a:stretch>
        </p:blipFill>
        <p:spPr>
          <a:xfrm>
            <a:off x="5261530" y="1911246"/>
            <a:ext cx="5539953" cy="4325911"/>
          </a:xfrm>
          <a:prstGeom prst="rect">
            <a:avLst/>
          </a:prstGeom>
        </p:spPr>
      </p:pic>
    </p:spTree>
    <p:extLst>
      <p:ext uri="{BB962C8B-B14F-4D97-AF65-F5344CB8AC3E}">
        <p14:creationId xmlns:p14="http://schemas.microsoft.com/office/powerpoint/2010/main" val="260924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0671-3D67-5D4B-5F78-CF763EBEBDCB}"/>
              </a:ext>
            </a:extLst>
          </p:cNvPr>
          <p:cNvSpPr>
            <a:spLocks noGrp="1"/>
          </p:cNvSpPr>
          <p:nvPr>
            <p:ph type="title"/>
          </p:nvPr>
        </p:nvSpPr>
        <p:spPr/>
        <p:txBody>
          <a:bodyPr/>
          <a:lstStyle/>
          <a:p>
            <a:r>
              <a:rPr lang="pl-PL">
                <a:ea typeface="+mj-lt"/>
                <a:cs typeface="+mj-lt"/>
              </a:rPr>
              <a:t>Podział wielokąta na wielokąty monotoniczne</a:t>
            </a:r>
            <a:endParaRPr lang="pl-PL">
              <a:ea typeface="Open sans"/>
              <a:cs typeface="Open sans"/>
            </a:endParaRPr>
          </a:p>
        </p:txBody>
      </p:sp>
      <p:sp>
        <p:nvSpPr>
          <p:cNvPr id="3" name="Content Placeholder 2">
            <a:extLst>
              <a:ext uri="{FF2B5EF4-FFF2-40B4-BE49-F238E27FC236}">
                <a16:creationId xmlns:a16="http://schemas.microsoft.com/office/drawing/2014/main" id="{4DAA498E-A21C-504C-C850-8E31973D53D5}"/>
              </a:ext>
            </a:extLst>
          </p:cNvPr>
          <p:cNvSpPr>
            <a:spLocks noGrp="1"/>
          </p:cNvSpPr>
          <p:nvPr>
            <p:ph idx="1"/>
          </p:nvPr>
        </p:nvSpPr>
        <p:spPr/>
        <p:txBody>
          <a:bodyPr vert="horz" lIns="91440" tIns="45720" rIns="91440" bIns="45720" rtlCol="0" anchor="t">
            <a:normAutofit/>
          </a:bodyPr>
          <a:lstStyle/>
          <a:p>
            <a:r>
              <a:rPr lang="pl-PL">
                <a:ea typeface="+mn-lt"/>
                <a:cs typeface="+mn-lt"/>
              </a:rPr>
              <a:t>Q - struktura zdarzeń - kolejka priorytetowa - są to nasze punkty, gdzie największy priorytet ma górny lewy punkt</a:t>
            </a:r>
          </a:p>
          <a:p>
            <a:endParaRPr lang="pl-PL">
              <a:ea typeface="+mn-lt"/>
              <a:cs typeface="+mn-lt"/>
            </a:endParaRPr>
          </a:p>
          <a:p>
            <a:r>
              <a:rPr lang="pl-PL">
                <a:ea typeface="+mn-lt"/>
                <a:cs typeface="+mn-lt"/>
              </a:rPr>
              <a:t>T - struktura stanu - dynamiczne drzewo wyszukań binarnych - są to krawędzie posortowane od lewej strony do prawej w miejscu przecięć z miotłą</a:t>
            </a:r>
            <a:endParaRPr lang="pl-PL">
              <a:ea typeface="Open sans"/>
              <a:cs typeface="Open sans"/>
            </a:endParaRPr>
          </a:p>
        </p:txBody>
      </p:sp>
    </p:spTree>
    <p:extLst>
      <p:ext uri="{BB962C8B-B14F-4D97-AF65-F5344CB8AC3E}">
        <p14:creationId xmlns:p14="http://schemas.microsoft.com/office/powerpoint/2010/main" val="839708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5BFC4-3AD1-FBA5-8BF0-CAC7E65DCE1E}"/>
              </a:ext>
            </a:extLst>
          </p:cNvPr>
          <p:cNvSpPr>
            <a:spLocks noGrp="1"/>
          </p:cNvSpPr>
          <p:nvPr>
            <p:ph type="title"/>
          </p:nvPr>
        </p:nvSpPr>
        <p:spPr/>
        <p:txBody>
          <a:bodyPr/>
          <a:lstStyle/>
          <a:p>
            <a:r>
              <a:rPr lang="pl-PL">
                <a:ea typeface="+mj-lt"/>
                <a:cs typeface="+mj-lt"/>
              </a:rPr>
              <a:t>Przebieg algorytmu</a:t>
            </a:r>
            <a:endParaRPr lang="pl-PL">
              <a:ea typeface="Open sans"/>
              <a:cs typeface="Open sans"/>
            </a:endParaRPr>
          </a:p>
        </p:txBody>
      </p:sp>
      <p:sp>
        <p:nvSpPr>
          <p:cNvPr id="3" name="Content Placeholder 2">
            <a:extLst>
              <a:ext uri="{FF2B5EF4-FFF2-40B4-BE49-F238E27FC236}">
                <a16:creationId xmlns:a16="http://schemas.microsoft.com/office/drawing/2014/main" id="{102977AD-58F9-D625-B362-A849DB9FDE6B}"/>
              </a:ext>
            </a:extLst>
          </p:cNvPr>
          <p:cNvSpPr>
            <a:spLocks noGrp="1"/>
          </p:cNvSpPr>
          <p:nvPr>
            <p:ph idx="1"/>
          </p:nvPr>
        </p:nvSpPr>
        <p:spPr/>
        <p:txBody>
          <a:bodyPr vert="horz" lIns="91440" tIns="45720" rIns="91440" bIns="45720" rtlCol="0" anchor="t">
            <a:normAutofit/>
          </a:bodyPr>
          <a:lstStyle/>
          <a:p>
            <a:r>
              <a:rPr lang="pl-PL">
                <a:ea typeface="+mn-lt"/>
                <a:cs typeface="+mn-lt"/>
              </a:rPr>
              <a:t>Kolejne punkty z kolejki priorytetowej Q będziemy przetwarzać w sposób zależny od typu danego punktu.</a:t>
            </a:r>
            <a:endParaRPr lang="pl-PL">
              <a:ea typeface="Open sans"/>
              <a:cs typeface="Open sans"/>
            </a:endParaRPr>
          </a:p>
          <a:p>
            <a:endParaRPr lang="pl-PL">
              <a:ea typeface="+mn-lt"/>
              <a:cs typeface="+mn-lt"/>
            </a:endParaRPr>
          </a:p>
          <a:p>
            <a:r>
              <a:rPr lang="pl-PL">
                <a:ea typeface="+mn-lt"/>
                <a:cs typeface="+mn-lt"/>
              </a:rPr>
              <a:t>Głównym celem jest wyeliminowanie wierzchołków łączących oraz dzielących. Wielokąt y-monotoniczny to takich, który właśnie nie posiada żadnych wierzchołków tego typu.</a:t>
            </a:r>
            <a:endParaRPr lang="pl-PL">
              <a:ea typeface="Open sans"/>
              <a:cs typeface="Open sans"/>
            </a:endParaRPr>
          </a:p>
          <a:p>
            <a:endParaRPr lang="pl-PL">
              <a:ea typeface="Open sans"/>
              <a:cs typeface="Open sans"/>
            </a:endParaRPr>
          </a:p>
        </p:txBody>
      </p:sp>
    </p:spTree>
    <p:extLst>
      <p:ext uri="{BB962C8B-B14F-4D97-AF65-F5344CB8AC3E}">
        <p14:creationId xmlns:p14="http://schemas.microsoft.com/office/powerpoint/2010/main" val="4209347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2808B-228F-C465-0034-9E1DD10CAD31}"/>
              </a:ext>
            </a:extLst>
          </p:cNvPr>
          <p:cNvSpPr>
            <a:spLocks noGrp="1"/>
          </p:cNvSpPr>
          <p:nvPr>
            <p:ph type="title"/>
          </p:nvPr>
        </p:nvSpPr>
        <p:spPr/>
        <p:txBody>
          <a:bodyPr/>
          <a:lstStyle/>
          <a:p>
            <a:r>
              <a:rPr lang="en-US" err="1">
                <a:ea typeface="Open sans"/>
                <a:cs typeface="Open sans"/>
              </a:rPr>
              <a:t>Wierzchołek</a:t>
            </a:r>
            <a:r>
              <a:rPr lang="en-US">
                <a:ea typeface="Open sans"/>
                <a:cs typeface="Open sans"/>
              </a:rPr>
              <a:t> </a:t>
            </a:r>
            <a:r>
              <a:rPr lang="en-US" err="1">
                <a:ea typeface="Open sans"/>
                <a:cs typeface="Open sans"/>
              </a:rPr>
              <a:t>dzielący</a:t>
            </a:r>
            <a:endParaRPr lang="en-US" err="1"/>
          </a:p>
        </p:txBody>
      </p:sp>
      <p:sp>
        <p:nvSpPr>
          <p:cNvPr id="3" name="Content Placeholder 2">
            <a:extLst>
              <a:ext uri="{FF2B5EF4-FFF2-40B4-BE49-F238E27FC236}">
                <a16:creationId xmlns:a16="http://schemas.microsoft.com/office/drawing/2014/main" id="{866EC889-BFDA-461C-E561-7FF20479E3E3}"/>
              </a:ext>
            </a:extLst>
          </p:cNvPr>
          <p:cNvSpPr>
            <a:spLocks noGrp="1"/>
          </p:cNvSpPr>
          <p:nvPr>
            <p:ph idx="1"/>
          </p:nvPr>
        </p:nvSpPr>
        <p:spPr/>
        <p:txBody>
          <a:bodyPr vert="horz" lIns="91440" tIns="45720" rIns="91440" bIns="45720" rtlCol="0" anchor="t">
            <a:normAutofit/>
          </a:bodyPr>
          <a:lstStyle/>
          <a:p>
            <a:pPr marL="0" indent="0">
              <a:buNone/>
            </a:pPr>
            <a:r>
              <a:rPr lang="pl-PL">
                <a:ea typeface="+mn-lt"/>
                <a:cs typeface="+mn-lt"/>
              </a:rPr>
              <a:t>Będziemy starali się znaleźć wierzchołki znajdujące się w pobliżu rozpatrywanego aktualnie wierzchołka </a:t>
            </a:r>
            <a:r>
              <a:rPr lang="pl-PL" err="1">
                <a:ea typeface="+mn-lt"/>
                <a:cs typeface="+mn-lt"/>
              </a:rPr>
              <a:t>v_i</a:t>
            </a:r>
            <a:r>
              <a:rPr lang="pl-PL">
                <a:ea typeface="+mn-lt"/>
                <a:cs typeface="+mn-lt"/>
              </a:rPr>
              <a:t>. Aby szybko znajdywać taki wierzchołek dla </a:t>
            </a:r>
            <a:r>
              <a:rPr lang="pl-PL" err="1">
                <a:ea typeface="+mn-lt"/>
                <a:cs typeface="+mn-lt"/>
              </a:rPr>
              <a:t>v_i</a:t>
            </a:r>
            <a:r>
              <a:rPr lang="pl-PL">
                <a:ea typeface="+mn-lt"/>
                <a:cs typeface="+mn-lt"/>
              </a:rPr>
              <a:t> dzielącego zauważmy, że będzie on najniższym wierzchołkiem leżącym pomiędzy prostą </a:t>
            </a:r>
            <a:r>
              <a:rPr lang="pl-PL" err="1">
                <a:ea typeface="+mn-lt"/>
                <a:cs typeface="+mn-lt"/>
              </a:rPr>
              <a:t>e_l</a:t>
            </a:r>
            <a:r>
              <a:rPr lang="pl-PL">
                <a:ea typeface="+mn-lt"/>
                <a:cs typeface="+mn-lt"/>
              </a:rPr>
              <a:t> będącą bezpośrednio na lewo od </a:t>
            </a:r>
            <a:r>
              <a:rPr lang="pl-PL" err="1">
                <a:ea typeface="+mn-lt"/>
                <a:cs typeface="+mn-lt"/>
              </a:rPr>
              <a:t>v_i</a:t>
            </a:r>
            <a:r>
              <a:rPr lang="pl-PL">
                <a:ea typeface="+mn-lt"/>
                <a:cs typeface="+mn-lt"/>
              </a:rPr>
              <a:t> oraz $</a:t>
            </a:r>
            <a:r>
              <a:rPr lang="pl-PL" err="1">
                <a:ea typeface="+mn-lt"/>
                <a:cs typeface="+mn-lt"/>
              </a:rPr>
              <a:t>e_p</a:t>
            </a:r>
            <a:r>
              <a:rPr lang="pl-PL">
                <a:ea typeface="+mn-lt"/>
                <a:cs typeface="+mn-lt"/>
              </a:rPr>
              <a:t>$ będącą bezpośrednio po prawej stronie. Wierzchołek ten nazwiemy pomocnikiem(</a:t>
            </a:r>
            <a:r>
              <a:rPr lang="pl-PL" err="1">
                <a:ea typeface="+mn-lt"/>
                <a:cs typeface="+mn-lt"/>
              </a:rPr>
              <a:t>v_i</a:t>
            </a:r>
            <a:r>
              <a:rPr lang="pl-PL">
                <a:ea typeface="+mn-lt"/>
                <a:cs typeface="+mn-lt"/>
              </a:rPr>
              <a:t>), zauważmy, że może on być górnym końcem samej </a:t>
            </a:r>
            <a:r>
              <a:rPr lang="pl-PL" err="1">
                <a:ea typeface="+mn-lt"/>
                <a:cs typeface="+mn-lt"/>
              </a:rPr>
              <a:t>e_l</a:t>
            </a:r>
            <a:r>
              <a:rPr lang="pl-PL">
                <a:ea typeface="+mn-lt"/>
                <a:cs typeface="+mn-lt"/>
              </a:rPr>
              <a:t>.</a:t>
            </a:r>
            <a:endParaRPr lang="pl-PL">
              <a:ea typeface="Open sans"/>
              <a:cs typeface="Open sans"/>
            </a:endParaRPr>
          </a:p>
        </p:txBody>
      </p:sp>
    </p:spTree>
    <p:extLst>
      <p:ext uri="{BB962C8B-B14F-4D97-AF65-F5344CB8AC3E}">
        <p14:creationId xmlns:p14="http://schemas.microsoft.com/office/powerpoint/2010/main" val="2784770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E3997-E991-03FA-A3D0-EB9489960B86}"/>
              </a:ext>
            </a:extLst>
          </p:cNvPr>
          <p:cNvSpPr>
            <a:spLocks noGrp="1"/>
          </p:cNvSpPr>
          <p:nvPr>
            <p:ph type="title"/>
          </p:nvPr>
        </p:nvSpPr>
        <p:spPr/>
        <p:txBody>
          <a:bodyPr/>
          <a:lstStyle/>
          <a:p>
            <a:r>
              <a:rPr lang="en-US" err="1">
                <a:ea typeface="Open sans"/>
                <a:cs typeface="Open sans"/>
              </a:rPr>
              <a:t>Wierzchołek</a:t>
            </a:r>
            <a:r>
              <a:rPr lang="en-US">
                <a:ea typeface="Open sans"/>
                <a:cs typeface="Open sans"/>
              </a:rPr>
              <a:t> </a:t>
            </a:r>
            <a:r>
              <a:rPr lang="en-US" err="1">
                <a:ea typeface="Open sans"/>
                <a:cs typeface="Open sans"/>
              </a:rPr>
              <a:t>łączący</a:t>
            </a:r>
            <a:endParaRPr lang="en-US" err="1"/>
          </a:p>
        </p:txBody>
      </p:sp>
      <p:sp>
        <p:nvSpPr>
          <p:cNvPr id="3" name="Content Placeholder 2">
            <a:extLst>
              <a:ext uri="{FF2B5EF4-FFF2-40B4-BE49-F238E27FC236}">
                <a16:creationId xmlns:a16="http://schemas.microsoft.com/office/drawing/2014/main" id="{EFB3DD48-AD16-808D-16BA-0F3571A188A9}"/>
              </a:ext>
            </a:extLst>
          </p:cNvPr>
          <p:cNvSpPr>
            <a:spLocks noGrp="1"/>
          </p:cNvSpPr>
          <p:nvPr>
            <p:ph idx="1"/>
          </p:nvPr>
        </p:nvSpPr>
        <p:spPr/>
        <p:txBody>
          <a:bodyPr vert="horz" lIns="91440" tIns="45720" rIns="91440" bIns="45720" rtlCol="0" anchor="t">
            <a:normAutofit/>
          </a:bodyPr>
          <a:lstStyle/>
          <a:p>
            <a:pPr marL="0" indent="0">
              <a:buNone/>
            </a:pPr>
            <a:r>
              <a:rPr lang="pl-PL">
                <a:ea typeface="+mn-lt"/>
                <a:cs typeface="+mn-lt"/>
              </a:rPr>
              <a:t>Pozostają jeszcze wierzchołki </a:t>
            </a:r>
            <a:r>
              <a:rPr lang="pl-PL" err="1">
                <a:ea typeface="+mn-lt"/>
                <a:cs typeface="+mn-lt"/>
              </a:rPr>
              <a:t>v_i</a:t>
            </a:r>
            <a:r>
              <a:rPr lang="pl-PL">
                <a:ea typeface="+mn-lt"/>
                <a:cs typeface="+mn-lt"/>
              </a:rPr>
              <a:t> łączące. Potrzebować one będą wierzchołków znajdujących się pod miotłą (jeszcze nie przetworzonych), ale będzie to dokładnie odwrócona sytuacja dla wierzchołka dzielącego. Za pomocnika(</a:t>
            </a:r>
            <a:r>
              <a:rPr lang="pl-PL" err="1">
                <a:ea typeface="+mn-lt"/>
                <a:cs typeface="+mn-lt"/>
              </a:rPr>
              <a:t>v_i</a:t>
            </a:r>
            <a:r>
              <a:rPr lang="pl-PL">
                <a:ea typeface="+mn-lt"/>
                <a:cs typeface="+mn-lt"/>
              </a:rPr>
              <a:t>), będziemy wybierać wierzchołek leżący pomiędzy </a:t>
            </a:r>
            <a:r>
              <a:rPr lang="pl-PL" err="1">
                <a:ea typeface="+mn-lt"/>
                <a:cs typeface="+mn-lt"/>
              </a:rPr>
              <a:t>e_l</a:t>
            </a:r>
            <a:r>
              <a:rPr lang="pl-PL">
                <a:ea typeface="+mn-lt"/>
                <a:cs typeface="+mn-lt"/>
              </a:rPr>
              <a:t> a </a:t>
            </a:r>
            <a:r>
              <a:rPr lang="pl-PL" err="1">
                <a:ea typeface="+mn-lt"/>
                <a:cs typeface="+mn-lt"/>
              </a:rPr>
              <a:t>e_p</a:t>
            </a:r>
            <a:r>
              <a:rPr lang="pl-PL">
                <a:ea typeface="+mn-lt"/>
                <a:cs typeface="+mn-lt"/>
              </a:rPr>
              <a:t>, znajdujący się najbliżej.</a:t>
            </a:r>
            <a:endParaRPr lang="pl-PL">
              <a:ea typeface="Open sans"/>
              <a:cs typeface="Open sans"/>
            </a:endParaRPr>
          </a:p>
        </p:txBody>
      </p:sp>
    </p:spTree>
    <p:extLst>
      <p:ext uri="{BB962C8B-B14F-4D97-AF65-F5344CB8AC3E}">
        <p14:creationId xmlns:p14="http://schemas.microsoft.com/office/powerpoint/2010/main" val="221675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10"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1"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2"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Oval 13">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17" name="Rectangle 16">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9" name="Rectangle 18">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1" name="Group 20">
            <a:extLst>
              <a:ext uri="{FF2B5EF4-FFF2-40B4-BE49-F238E27FC236}">
                <a16:creationId xmlns:a16="http://schemas.microsoft.com/office/drawing/2014/main" id="{AF7B2BB7-8E22-4794-9BDE-B71129D77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7697" y="189413"/>
            <a:ext cx="2019905" cy="1778845"/>
            <a:chOff x="207697" y="189413"/>
            <a:chExt cx="2019905" cy="1778845"/>
          </a:xfrm>
        </p:grpSpPr>
        <p:sp useBgFill="1">
          <p:nvSpPr>
            <p:cNvPr id="22" name="Graphic 10">
              <a:extLst>
                <a:ext uri="{FF2B5EF4-FFF2-40B4-BE49-F238E27FC236}">
                  <a16:creationId xmlns:a16="http://schemas.microsoft.com/office/drawing/2014/main" id="{F2CC297A-905C-42B8-BFEC-55FB2FCF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895FAF0E-8EDF-4055-9578-394F1ACB3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89661" y="1671181"/>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4" name="Oval 23">
              <a:extLst>
                <a:ext uri="{FF2B5EF4-FFF2-40B4-BE49-F238E27FC236}">
                  <a16:creationId xmlns:a16="http://schemas.microsoft.com/office/drawing/2014/main" id="{AEC4BAA7-1F27-4F25-9D16-9099BF9AC7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2017290" y="592943"/>
              <a:ext cx="210312" cy="21031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1">
            <a:extLst>
              <a:ext uri="{FF2B5EF4-FFF2-40B4-BE49-F238E27FC236}">
                <a16:creationId xmlns:a16="http://schemas.microsoft.com/office/drawing/2014/main" id="{471E8A3E-DEC0-77CE-4B28-5BFC370DE479}"/>
              </a:ext>
            </a:extLst>
          </p:cNvPr>
          <p:cNvSpPr>
            <a:spLocks noGrp="1"/>
          </p:cNvSpPr>
          <p:nvPr>
            <p:ph type="title"/>
          </p:nvPr>
        </p:nvSpPr>
        <p:spPr>
          <a:xfrm>
            <a:off x="485635" y="728905"/>
            <a:ext cx="3933965" cy="3184274"/>
          </a:xfrm>
        </p:spPr>
        <p:txBody>
          <a:bodyPr vert="horz" lIns="91440" tIns="45720" rIns="91440" bIns="45720" rtlCol="0" anchor="b">
            <a:normAutofit/>
          </a:bodyPr>
          <a:lstStyle/>
          <a:p>
            <a:r>
              <a:rPr lang="en-US" sz="5400" kern="1200">
                <a:solidFill>
                  <a:schemeClr val="tx1"/>
                </a:solidFill>
                <a:latin typeface="+mj-lt"/>
                <a:ea typeface="+mj-ea"/>
                <a:cs typeface="+mj-cs"/>
              </a:rPr>
              <a:t>Rezultat podziału</a:t>
            </a:r>
          </a:p>
        </p:txBody>
      </p:sp>
      <p:pic>
        <p:nvPicPr>
          <p:cNvPr id="4" name="Content Placeholder 3" descr="A graph with lines and numbers&#10;&#10;Description automatically generated">
            <a:extLst>
              <a:ext uri="{FF2B5EF4-FFF2-40B4-BE49-F238E27FC236}">
                <a16:creationId xmlns:a16="http://schemas.microsoft.com/office/drawing/2014/main" id="{8FB4564C-1EAD-1D1D-743E-85C42179C35B}"/>
              </a:ext>
            </a:extLst>
          </p:cNvPr>
          <p:cNvPicPr>
            <a:picLocks noGrp="1" noChangeAspect="1"/>
          </p:cNvPicPr>
          <p:nvPr>
            <p:ph idx="1"/>
          </p:nvPr>
        </p:nvPicPr>
        <p:blipFill>
          <a:blip r:embed="rId2"/>
          <a:stretch>
            <a:fillRect/>
          </a:stretch>
        </p:blipFill>
        <p:spPr>
          <a:xfrm>
            <a:off x="4953000" y="841230"/>
            <a:ext cx="6689185" cy="5217565"/>
          </a:xfrm>
          <a:prstGeom prst="rect">
            <a:avLst/>
          </a:prstGeom>
        </p:spPr>
      </p:pic>
      <p:sp useBgFill="1">
        <p:nvSpPr>
          <p:cNvPr id="26" name="Oval 25">
            <a:extLst>
              <a:ext uri="{FF2B5EF4-FFF2-40B4-BE49-F238E27FC236}">
                <a16:creationId xmlns:a16="http://schemas.microsoft.com/office/drawing/2014/main" id="{8333FD0A-502E-4A24-8E99-5496F09DC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70962" y="5630260"/>
            <a:ext cx="355414" cy="35541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Tree>
    <p:extLst>
      <p:ext uri="{BB962C8B-B14F-4D97-AF65-F5344CB8AC3E}">
        <p14:creationId xmlns:p14="http://schemas.microsoft.com/office/powerpoint/2010/main" val="1323511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12"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7" name="Oval 16">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19" name="Rectangle 1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21" name="Rectangle 20">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3" name="Group 22">
            <a:extLst>
              <a:ext uri="{FF2B5EF4-FFF2-40B4-BE49-F238E27FC236}">
                <a16:creationId xmlns:a16="http://schemas.microsoft.com/office/drawing/2014/main" id="{AF7B2BB7-8E22-4794-9BDE-B71129D77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7697" y="189413"/>
            <a:ext cx="2019905" cy="1778845"/>
            <a:chOff x="207697" y="189413"/>
            <a:chExt cx="2019905" cy="1778845"/>
          </a:xfrm>
        </p:grpSpPr>
        <p:sp useBgFill="1">
          <p:nvSpPr>
            <p:cNvPr id="24" name="Graphic 10">
              <a:extLst>
                <a:ext uri="{FF2B5EF4-FFF2-40B4-BE49-F238E27FC236}">
                  <a16:creationId xmlns:a16="http://schemas.microsoft.com/office/drawing/2014/main" id="{F2CC297A-905C-42B8-BFEC-55FB2FCF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5" name="Oval 24">
              <a:extLst>
                <a:ext uri="{FF2B5EF4-FFF2-40B4-BE49-F238E27FC236}">
                  <a16:creationId xmlns:a16="http://schemas.microsoft.com/office/drawing/2014/main" id="{895FAF0E-8EDF-4055-9578-394F1ACB3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89661" y="1671181"/>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6" name="Oval 25">
              <a:extLst>
                <a:ext uri="{FF2B5EF4-FFF2-40B4-BE49-F238E27FC236}">
                  <a16:creationId xmlns:a16="http://schemas.microsoft.com/office/drawing/2014/main" id="{AEC4BAA7-1F27-4F25-9D16-9099BF9AC7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2017290" y="592943"/>
              <a:ext cx="210312" cy="21031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1">
            <a:extLst>
              <a:ext uri="{FF2B5EF4-FFF2-40B4-BE49-F238E27FC236}">
                <a16:creationId xmlns:a16="http://schemas.microsoft.com/office/drawing/2014/main" id="{DFB5FF95-3206-D6F6-8E7F-9D0B120714EA}"/>
              </a:ext>
            </a:extLst>
          </p:cNvPr>
          <p:cNvSpPr>
            <a:spLocks noGrp="1"/>
          </p:cNvSpPr>
          <p:nvPr>
            <p:ph type="title"/>
          </p:nvPr>
        </p:nvSpPr>
        <p:spPr>
          <a:xfrm>
            <a:off x="485635" y="728905"/>
            <a:ext cx="3933965" cy="3184274"/>
          </a:xfrm>
        </p:spPr>
        <p:txBody>
          <a:bodyPr vert="horz" lIns="91440" tIns="45720" rIns="91440" bIns="45720" rtlCol="0" anchor="b">
            <a:normAutofit/>
          </a:bodyPr>
          <a:lstStyle/>
          <a:p>
            <a:r>
              <a:rPr lang="en-US" sz="3800" kern="1200">
                <a:solidFill>
                  <a:schemeClr val="tx1"/>
                </a:solidFill>
                <a:latin typeface="+mj-lt"/>
                <a:ea typeface="+mj-ea"/>
                <a:cs typeface="+mj-cs"/>
              </a:rPr>
              <a:t>Triangulacja wielokątów monotonicznych</a:t>
            </a:r>
          </a:p>
        </p:txBody>
      </p:sp>
      <p:pic>
        <p:nvPicPr>
          <p:cNvPr id="6" name="Content Placeholder 5" descr="A graph with red lines and blue dots&#10;&#10;Description automatically generated">
            <a:extLst>
              <a:ext uri="{FF2B5EF4-FFF2-40B4-BE49-F238E27FC236}">
                <a16:creationId xmlns:a16="http://schemas.microsoft.com/office/drawing/2014/main" id="{C1DECBF5-9DE6-C030-B01A-FEC326DADCCF}"/>
              </a:ext>
            </a:extLst>
          </p:cNvPr>
          <p:cNvPicPr>
            <a:picLocks noGrp="1" noChangeAspect="1"/>
          </p:cNvPicPr>
          <p:nvPr>
            <p:ph idx="1"/>
          </p:nvPr>
        </p:nvPicPr>
        <p:blipFill>
          <a:blip r:embed="rId2"/>
          <a:stretch>
            <a:fillRect/>
          </a:stretch>
        </p:blipFill>
        <p:spPr>
          <a:xfrm>
            <a:off x="4953000" y="991737"/>
            <a:ext cx="6689185" cy="4916550"/>
          </a:xfrm>
          <a:prstGeom prst="rect">
            <a:avLst/>
          </a:prstGeom>
        </p:spPr>
      </p:pic>
      <p:sp useBgFill="1">
        <p:nvSpPr>
          <p:cNvPr id="28" name="Oval 27">
            <a:extLst>
              <a:ext uri="{FF2B5EF4-FFF2-40B4-BE49-F238E27FC236}">
                <a16:creationId xmlns:a16="http://schemas.microsoft.com/office/drawing/2014/main" id="{8333FD0A-502E-4A24-8E99-5496F09DC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70962" y="5630260"/>
            <a:ext cx="355414" cy="35541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Tree>
    <p:extLst>
      <p:ext uri="{BB962C8B-B14F-4D97-AF65-F5344CB8AC3E}">
        <p14:creationId xmlns:p14="http://schemas.microsoft.com/office/powerpoint/2010/main" val="2715714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9C17-136E-EDBD-1791-88C6C7E83478}"/>
              </a:ext>
            </a:extLst>
          </p:cNvPr>
          <p:cNvSpPr>
            <a:spLocks noGrp="1"/>
          </p:cNvSpPr>
          <p:nvPr>
            <p:ph type="title"/>
          </p:nvPr>
        </p:nvSpPr>
        <p:spPr/>
        <p:txBody>
          <a:bodyPr>
            <a:normAutofit fontScale="90000"/>
          </a:bodyPr>
          <a:lstStyle/>
          <a:p>
            <a:r>
              <a:rPr lang="en-US" err="1">
                <a:ea typeface="+mj-lt"/>
                <a:cs typeface="+mj-lt"/>
              </a:rPr>
              <a:t>Konwersja</a:t>
            </a:r>
            <a:r>
              <a:rPr lang="en-US">
                <a:ea typeface="+mj-lt"/>
                <a:cs typeface="+mj-lt"/>
              </a:rPr>
              <a:t> </a:t>
            </a:r>
            <a:r>
              <a:rPr lang="en-US" err="1">
                <a:ea typeface="+mj-lt"/>
                <a:cs typeface="+mj-lt"/>
              </a:rPr>
              <a:t>punktów</a:t>
            </a:r>
            <a:r>
              <a:rPr lang="en-US">
                <a:ea typeface="+mj-lt"/>
                <a:cs typeface="+mj-lt"/>
              </a:rPr>
              <a:t> </a:t>
            </a:r>
            <a:r>
              <a:rPr lang="en-US" err="1">
                <a:ea typeface="+mj-lt"/>
                <a:cs typeface="+mj-lt"/>
              </a:rPr>
              <a:t>i</a:t>
            </a:r>
            <a:r>
              <a:rPr lang="en-US">
                <a:ea typeface="+mj-lt"/>
                <a:cs typeface="+mj-lt"/>
              </a:rPr>
              <a:t> </a:t>
            </a:r>
            <a:r>
              <a:rPr lang="en-US" err="1">
                <a:ea typeface="+mj-lt"/>
                <a:cs typeface="+mj-lt"/>
              </a:rPr>
              <a:t>przekątnych</a:t>
            </a:r>
            <a:r>
              <a:rPr lang="en-US">
                <a:ea typeface="+mj-lt"/>
                <a:cs typeface="+mj-lt"/>
              </a:rPr>
              <a:t> </a:t>
            </a:r>
            <a:r>
              <a:rPr lang="en-US" err="1">
                <a:ea typeface="+mj-lt"/>
                <a:cs typeface="+mj-lt"/>
              </a:rPr>
              <a:t>na</a:t>
            </a:r>
            <a:r>
              <a:rPr lang="en-US">
                <a:ea typeface="+mj-lt"/>
                <a:cs typeface="+mj-lt"/>
              </a:rPr>
              <a:t> </a:t>
            </a:r>
            <a:r>
              <a:rPr lang="en-US" err="1">
                <a:ea typeface="+mj-lt"/>
                <a:cs typeface="+mj-lt"/>
              </a:rPr>
              <a:t>poszczególne</a:t>
            </a:r>
            <a:r>
              <a:rPr lang="en-US">
                <a:ea typeface="+mj-lt"/>
                <a:cs typeface="+mj-lt"/>
              </a:rPr>
              <a:t> </a:t>
            </a:r>
            <a:r>
              <a:rPr lang="en-US" err="1">
                <a:ea typeface="+mj-lt"/>
                <a:cs typeface="+mj-lt"/>
              </a:rPr>
              <a:t>wielokąty</a:t>
            </a:r>
            <a:r>
              <a:rPr lang="en-US">
                <a:ea typeface="+mj-lt"/>
                <a:cs typeface="+mj-lt"/>
              </a:rPr>
              <a:t> y-</a:t>
            </a:r>
            <a:r>
              <a:rPr lang="en-US" err="1">
                <a:ea typeface="+mj-lt"/>
                <a:cs typeface="+mj-lt"/>
              </a:rPr>
              <a:t>monotoniczne</a:t>
            </a:r>
            <a:endParaRPr lang="en-US" err="1"/>
          </a:p>
        </p:txBody>
      </p:sp>
      <p:sp>
        <p:nvSpPr>
          <p:cNvPr id="3" name="Content Placeholder 2">
            <a:extLst>
              <a:ext uri="{FF2B5EF4-FFF2-40B4-BE49-F238E27FC236}">
                <a16:creationId xmlns:a16="http://schemas.microsoft.com/office/drawing/2014/main" id="{CBBA6EDF-626D-8791-68E3-E27EDCB90381}"/>
              </a:ext>
            </a:extLst>
          </p:cNvPr>
          <p:cNvSpPr>
            <a:spLocks noGrp="1"/>
          </p:cNvSpPr>
          <p:nvPr>
            <p:ph idx="1"/>
          </p:nvPr>
        </p:nvSpPr>
        <p:spPr/>
        <p:txBody>
          <a:bodyPr vert="horz" lIns="91440" tIns="45720" rIns="91440" bIns="45720" rtlCol="0" anchor="t">
            <a:normAutofit/>
          </a:bodyPr>
          <a:lstStyle/>
          <a:p>
            <a:pPr marL="0" indent="0">
              <a:buNone/>
            </a:pPr>
            <a:r>
              <a:rPr lang="pl-PL">
                <a:ea typeface="+mn-lt"/>
                <a:cs typeface="+mn-lt"/>
              </a:rPr>
              <a:t>Sporządzimy listę punktów, jako strukturę gdzie każdy punkt posiada zbiór innych punktów z których możemy do niego dotrzeć na podstawia otrzymanych przekątnych.</a:t>
            </a:r>
          </a:p>
          <a:p>
            <a:pPr marL="0" indent="0">
              <a:buNone/>
            </a:pPr>
            <a:endParaRPr lang="pl-PL">
              <a:ea typeface="Open sans"/>
              <a:cs typeface="Open sans"/>
            </a:endParaRPr>
          </a:p>
          <a:p>
            <a:pPr marL="0" indent="0">
              <a:buNone/>
            </a:pPr>
            <a:r>
              <a:rPr lang="pl-PL">
                <a:ea typeface="+mn-lt"/>
                <a:cs typeface="+mn-lt"/>
              </a:rPr>
              <a:t>Posłużymy się następnie lekko zmodyfikowanym algorytmem przeszukiwania wzdłuż. Dla każdego punktu będziemy szukać ścieżek w których wracamy do punktu startu. Jedyne na co musimy uważać, to aby od razu nie wrócić się do tego samego punktu. Po znalezieniu takiej ścieżki usuwamy połączenia ze struktury i próbujemy dla kolejnego punktu.</a:t>
            </a:r>
          </a:p>
        </p:txBody>
      </p:sp>
    </p:spTree>
    <p:extLst>
      <p:ext uri="{BB962C8B-B14F-4D97-AF65-F5344CB8AC3E}">
        <p14:creationId xmlns:p14="http://schemas.microsoft.com/office/powerpoint/2010/main" val="754230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195-B63C-A9F7-BA08-5617C4B26CC9}"/>
              </a:ext>
            </a:extLst>
          </p:cNvPr>
          <p:cNvSpPr>
            <a:spLocks noGrp="1"/>
          </p:cNvSpPr>
          <p:nvPr>
            <p:ph type="title"/>
          </p:nvPr>
        </p:nvSpPr>
        <p:spPr>
          <a:xfrm>
            <a:off x="838200" y="365125"/>
            <a:ext cx="10515600" cy="1350546"/>
          </a:xfrm>
        </p:spPr>
        <p:txBody>
          <a:bodyPr/>
          <a:lstStyle/>
          <a:p>
            <a:r>
              <a:rPr lang="en-US" err="1">
                <a:ea typeface="+mj-lt"/>
                <a:cs typeface="+mj-lt"/>
              </a:rPr>
              <a:t>Triangulacja</a:t>
            </a:r>
            <a:r>
              <a:rPr lang="en-US">
                <a:ea typeface="+mj-lt"/>
                <a:cs typeface="+mj-lt"/>
              </a:rPr>
              <a:t> </a:t>
            </a:r>
            <a:r>
              <a:rPr lang="en-US" err="1">
                <a:ea typeface="+mj-lt"/>
                <a:cs typeface="+mj-lt"/>
              </a:rPr>
              <a:t>kolejnych</a:t>
            </a:r>
            <a:r>
              <a:rPr lang="en-US">
                <a:ea typeface="+mj-lt"/>
                <a:cs typeface="+mj-lt"/>
              </a:rPr>
              <a:t> </a:t>
            </a:r>
            <a:r>
              <a:rPr lang="en-US" err="1">
                <a:ea typeface="+mj-lt"/>
                <a:cs typeface="+mj-lt"/>
              </a:rPr>
              <a:t>wielokątów</a:t>
            </a:r>
            <a:r>
              <a:rPr lang="en-US">
                <a:ea typeface="+mj-lt"/>
                <a:cs typeface="+mj-lt"/>
              </a:rPr>
              <a:t> y-</a:t>
            </a:r>
            <a:r>
              <a:rPr lang="en-US" err="1">
                <a:ea typeface="+mj-lt"/>
                <a:cs typeface="+mj-lt"/>
              </a:rPr>
              <a:t>monotonicznych</a:t>
            </a:r>
            <a:endParaRPr lang="en-US" err="1"/>
          </a:p>
        </p:txBody>
      </p:sp>
      <p:sp>
        <p:nvSpPr>
          <p:cNvPr id="3" name="Content Placeholder 2">
            <a:extLst>
              <a:ext uri="{FF2B5EF4-FFF2-40B4-BE49-F238E27FC236}">
                <a16:creationId xmlns:a16="http://schemas.microsoft.com/office/drawing/2014/main" id="{53112BD0-5CD3-67FC-B2C3-6E69AC45B0F3}"/>
              </a:ext>
            </a:extLst>
          </p:cNvPr>
          <p:cNvSpPr>
            <a:spLocks noGrp="1"/>
          </p:cNvSpPr>
          <p:nvPr>
            <p:ph idx="1"/>
          </p:nvPr>
        </p:nvSpPr>
        <p:spPr>
          <a:xfrm>
            <a:off x="838200" y="1825625"/>
            <a:ext cx="10515600" cy="4900977"/>
          </a:xfrm>
        </p:spPr>
        <p:txBody>
          <a:bodyPr vert="horz" lIns="91440" tIns="45720" rIns="91440" bIns="45720" rtlCol="0" anchor="t">
            <a:normAutofit lnSpcReduction="10000"/>
          </a:bodyPr>
          <a:lstStyle/>
          <a:p>
            <a:r>
              <a:rPr lang="pl-PL">
                <a:ea typeface="+mn-lt"/>
                <a:cs typeface="+mn-lt"/>
              </a:rPr>
              <a:t>Określamy lewy i prawy łańcuch wielokąta względem kierunku monotoniczności</a:t>
            </a:r>
          </a:p>
          <a:p>
            <a:r>
              <a:rPr lang="pl-PL">
                <a:ea typeface="+mn-lt"/>
                <a:cs typeface="+mn-lt"/>
              </a:rPr>
              <a:t>Porządkujemy wierzchołki wzdłuż kierunku monotoniczności</a:t>
            </a:r>
          </a:p>
          <a:p>
            <a:r>
              <a:rPr lang="pl-PL">
                <a:ea typeface="+mn-lt"/>
                <a:cs typeface="+mn-lt"/>
              </a:rPr>
              <a:t>Wkładamy dwa pierwsze wierzchołki na stos.</a:t>
            </a:r>
          </a:p>
          <a:p>
            <a:r>
              <a:rPr lang="pl-PL">
                <a:ea typeface="+mn-lt"/>
                <a:cs typeface="+mn-lt"/>
              </a:rPr>
              <a:t>Jeśli kolejny wierzchołek należy do innego łańcucha niż wierzchołek stanowiący szczyt stosu, to możemy go połączyć ze wszystkimi wierzchołkami na stosie. Na stosie zostają dwa wierzchołki, które były „zamiatane” ostatnie.</a:t>
            </a:r>
          </a:p>
          <a:p>
            <a:pPr lvl="1"/>
            <a:r>
              <a:rPr lang="pl-PL">
                <a:ea typeface="+mn-lt"/>
                <a:cs typeface="+mn-lt"/>
              </a:rPr>
              <a:t>Jeśli trójkąt należy do wielokąta, to dodajemy przekątną i usuwamy odpowiedni wierzchołek ze szczytu stosu</a:t>
            </a:r>
          </a:p>
          <a:p>
            <a:pPr lvl="1"/>
            <a:r>
              <a:rPr lang="pl-PL">
                <a:ea typeface="+mn-lt"/>
                <a:cs typeface="+mn-lt"/>
              </a:rPr>
              <a:t>w przeciwnym przypadku umieszczamy badane wierzchołki na stosie.</a:t>
            </a:r>
            <a:endParaRPr lang="pl-PL">
              <a:ea typeface="Open sans"/>
              <a:cs typeface="Open sans"/>
            </a:endParaRPr>
          </a:p>
        </p:txBody>
      </p:sp>
    </p:spTree>
    <p:extLst>
      <p:ext uri="{BB962C8B-B14F-4D97-AF65-F5344CB8AC3E}">
        <p14:creationId xmlns:p14="http://schemas.microsoft.com/office/powerpoint/2010/main" val="176059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10"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1"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2"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Oval 13">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17" name="Rectangle 16">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9" name="Rectangle 18">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1" name="Group 20">
            <a:extLst>
              <a:ext uri="{FF2B5EF4-FFF2-40B4-BE49-F238E27FC236}">
                <a16:creationId xmlns:a16="http://schemas.microsoft.com/office/drawing/2014/main" id="{AF7B2BB7-8E22-4794-9BDE-B71129D77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7697" y="189413"/>
            <a:ext cx="2019905" cy="1778845"/>
            <a:chOff x="207697" y="189413"/>
            <a:chExt cx="2019905" cy="1778845"/>
          </a:xfrm>
        </p:grpSpPr>
        <p:sp useBgFill="1">
          <p:nvSpPr>
            <p:cNvPr id="22" name="Graphic 10">
              <a:extLst>
                <a:ext uri="{FF2B5EF4-FFF2-40B4-BE49-F238E27FC236}">
                  <a16:creationId xmlns:a16="http://schemas.microsoft.com/office/drawing/2014/main" id="{F2CC297A-905C-42B8-BFEC-55FB2FCF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895FAF0E-8EDF-4055-9578-394F1ACB3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89661" y="1671181"/>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4" name="Oval 23">
              <a:extLst>
                <a:ext uri="{FF2B5EF4-FFF2-40B4-BE49-F238E27FC236}">
                  <a16:creationId xmlns:a16="http://schemas.microsoft.com/office/drawing/2014/main" id="{AEC4BAA7-1F27-4F25-9D16-9099BF9AC7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2017290" y="592943"/>
              <a:ext cx="210312" cy="21031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itle 1">
            <a:extLst>
              <a:ext uri="{FF2B5EF4-FFF2-40B4-BE49-F238E27FC236}">
                <a16:creationId xmlns:a16="http://schemas.microsoft.com/office/drawing/2014/main" id="{5694232A-9143-D7E9-37AF-B49E29DED48F}"/>
              </a:ext>
            </a:extLst>
          </p:cNvPr>
          <p:cNvSpPr>
            <a:spLocks noGrp="1"/>
          </p:cNvSpPr>
          <p:nvPr>
            <p:ph type="title"/>
          </p:nvPr>
        </p:nvSpPr>
        <p:spPr>
          <a:xfrm>
            <a:off x="485635" y="728905"/>
            <a:ext cx="3933965" cy="3184274"/>
          </a:xfrm>
        </p:spPr>
        <p:txBody>
          <a:bodyPr vert="horz" lIns="91440" tIns="45720" rIns="91440" bIns="45720" rtlCol="0" anchor="b">
            <a:normAutofit/>
          </a:bodyPr>
          <a:lstStyle/>
          <a:p>
            <a:r>
              <a:rPr lang="en-US" sz="5400" kern="1200">
                <a:solidFill>
                  <a:schemeClr val="tx1"/>
                </a:solidFill>
                <a:latin typeface="+mj-lt"/>
                <a:ea typeface="+mj-ea"/>
                <a:cs typeface="+mj-cs"/>
              </a:rPr>
              <a:t>Rezultat triangulacji</a:t>
            </a:r>
          </a:p>
        </p:txBody>
      </p:sp>
      <p:sp useBgFill="1">
        <p:nvSpPr>
          <p:cNvPr id="26" name="Oval 25">
            <a:extLst>
              <a:ext uri="{FF2B5EF4-FFF2-40B4-BE49-F238E27FC236}">
                <a16:creationId xmlns:a16="http://schemas.microsoft.com/office/drawing/2014/main" id="{8333FD0A-502E-4A24-8E99-5496F09DC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70962" y="5630260"/>
            <a:ext cx="355414" cy="35541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pic>
        <p:nvPicPr>
          <p:cNvPr id="6" name="Content Placeholder 5" descr="A graph of a function&#10;&#10;Description automatically generated">
            <a:extLst>
              <a:ext uri="{FF2B5EF4-FFF2-40B4-BE49-F238E27FC236}">
                <a16:creationId xmlns:a16="http://schemas.microsoft.com/office/drawing/2014/main" id="{A4DCDD76-1622-F071-0902-2E4A6F66101C}"/>
              </a:ext>
            </a:extLst>
          </p:cNvPr>
          <p:cNvPicPr>
            <a:picLocks noGrp="1" noChangeAspect="1"/>
          </p:cNvPicPr>
          <p:nvPr>
            <p:ph idx="1"/>
          </p:nvPr>
        </p:nvPicPr>
        <p:blipFill>
          <a:blip r:embed="rId2"/>
          <a:stretch>
            <a:fillRect/>
          </a:stretch>
        </p:blipFill>
        <p:spPr>
          <a:xfrm>
            <a:off x="4194992" y="625985"/>
            <a:ext cx="7451226" cy="5601014"/>
          </a:xfrm>
        </p:spPr>
      </p:pic>
    </p:spTree>
    <p:extLst>
      <p:ext uri="{BB962C8B-B14F-4D97-AF65-F5344CB8AC3E}">
        <p14:creationId xmlns:p14="http://schemas.microsoft.com/office/powerpoint/2010/main" val="2420262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3C8BB-67DF-E092-E369-D80EB2E91007}"/>
              </a:ext>
            </a:extLst>
          </p:cNvPr>
          <p:cNvSpPr>
            <a:spLocks noGrp="1"/>
          </p:cNvSpPr>
          <p:nvPr>
            <p:ph type="title"/>
          </p:nvPr>
        </p:nvSpPr>
        <p:spPr/>
        <p:txBody>
          <a:bodyPr/>
          <a:lstStyle/>
          <a:p>
            <a:r>
              <a:rPr lang="en-US" err="1">
                <a:ea typeface="+mj-lt"/>
                <a:cs typeface="+mj-lt"/>
              </a:rPr>
              <a:t>Kompletny</a:t>
            </a:r>
            <a:r>
              <a:rPr lang="en-US">
                <a:ea typeface="+mj-lt"/>
                <a:cs typeface="+mj-lt"/>
              </a:rPr>
              <a:t> </a:t>
            </a:r>
            <a:r>
              <a:rPr lang="en-US" err="1">
                <a:ea typeface="+mj-lt"/>
                <a:cs typeface="+mj-lt"/>
              </a:rPr>
              <a:t>algorytm</a:t>
            </a:r>
            <a:endParaRPr lang="en-US" err="1"/>
          </a:p>
        </p:txBody>
      </p:sp>
      <p:sp>
        <p:nvSpPr>
          <p:cNvPr id="3" name="Content Placeholder 2">
            <a:extLst>
              <a:ext uri="{FF2B5EF4-FFF2-40B4-BE49-F238E27FC236}">
                <a16:creationId xmlns:a16="http://schemas.microsoft.com/office/drawing/2014/main" id="{6193080E-2886-9136-7CEA-E3378099C875}"/>
              </a:ext>
            </a:extLst>
          </p:cNvPr>
          <p:cNvSpPr>
            <a:spLocks noGrp="1"/>
          </p:cNvSpPr>
          <p:nvPr>
            <p:ph idx="1"/>
          </p:nvPr>
        </p:nvSpPr>
        <p:spPr>
          <a:xfrm>
            <a:off x="838200" y="1688216"/>
            <a:ext cx="10515600" cy="4701107"/>
          </a:xfrm>
        </p:spPr>
        <p:txBody>
          <a:bodyPr vert="horz" lIns="91440" tIns="45720" rIns="91440" bIns="45720" rtlCol="0" anchor="t">
            <a:normAutofit lnSpcReduction="10000"/>
          </a:bodyPr>
          <a:lstStyle/>
          <a:p>
            <a:r>
              <a:rPr lang="pl-PL">
                <a:ea typeface="+mn-lt"/>
                <a:cs typeface="+mn-lt"/>
              </a:rPr>
              <a:t>Dane wejściowe</a:t>
            </a:r>
            <a:endParaRPr lang="pl-PL">
              <a:ea typeface="Open sans"/>
              <a:cs typeface="Open sans"/>
            </a:endParaRPr>
          </a:p>
          <a:p>
            <a:pPr lvl="1"/>
            <a:r>
              <a:rPr lang="pl-PL" sz="2800">
                <a:ea typeface="+mn-lt"/>
                <a:cs typeface="+mn-lt"/>
              </a:rPr>
              <a:t>Wielokąt prosty zadany w postaci punktów w kierunku </a:t>
            </a:r>
            <a:br>
              <a:rPr lang="pl-PL"/>
            </a:br>
            <a:r>
              <a:rPr lang="pl-PL" sz="2800">
                <a:ea typeface="+mn-lt"/>
                <a:cs typeface="+mn-lt"/>
              </a:rPr>
              <a:t>przeciwnym do wskazówek zegara.</a:t>
            </a:r>
            <a:endParaRPr lang="pl-PL">
              <a:ea typeface="+mn-lt"/>
              <a:cs typeface="+mn-lt"/>
            </a:endParaRPr>
          </a:p>
          <a:p>
            <a:r>
              <a:rPr lang="pl-PL">
                <a:ea typeface="+mn-lt"/>
                <a:cs typeface="+mn-lt"/>
              </a:rPr>
              <a:t>Rezultat</a:t>
            </a:r>
          </a:p>
          <a:p>
            <a:pPr lvl="1"/>
            <a:r>
              <a:rPr lang="pl-PL">
                <a:ea typeface="+mn-lt"/>
                <a:cs typeface="+mn-lt"/>
              </a:rPr>
              <a:t>Triangulacja wielokąta prostego w postaci przekątnych, które należy dołożyć.</a:t>
            </a:r>
          </a:p>
          <a:p>
            <a:r>
              <a:rPr lang="pl-PL">
                <a:ea typeface="+mn-lt"/>
                <a:cs typeface="+mn-lt"/>
              </a:rPr>
              <a:t>Złożoność czasowa kompletnego algorytmu dla n wierzchołków: O(n*log(n))</a:t>
            </a:r>
          </a:p>
          <a:p>
            <a:r>
              <a:rPr lang="pl-PL">
                <a:ea typeface="+mn-lt"/>
                <a:cs typeface="+mn-lt"/>
              </a:rPr>
              <a:t>Złożoność pamięciowa kompletnego algorytmu dla n wierzchołków: </a:t>
            </a:r>
            <a:br>
              <a:rPr lang="pl-PL">
                <a:ea typeface="+mn-lt"/>
                <a:cs typeface="+mn-lt"/>
              </a:rPr>
            </a:br>
            <a:r>
              <a:rPr lang="pl-PL">
                <a:ea typeface="+mn-lt"/>
                <a:cs typeface="+mn-lt"/>
              </a:rPr>
              <a:t>O(n)</a:t>
            </a:r>
          </a:p>
        </p:txBody>
      </p:sp>
    </p:spTree>
    <p:extLst>
      <p:ext uri="{BB962C8B-B14F-4D97-AF65-F5344CB8AC3E}">
        <p14:creationId xmlns:p14="http://schemas.microsoft.com/office/powerpoint/2010/main" val="2812462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9"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0"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1"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2" name="Oval 11">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4" name="Oval 13">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16" name="Rectangle 15">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8" name="Rectangle 17">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sp>
        <p:nvSpPr>
          <p:cNvPr id="20" name="Rectangle 19">
            <a:extLst>
              <a:ext uri="{FF2B5EF4-FFF2-40B4-BE49-F238E27FC236}">
                <a16:creationId xmlns:a16="http://schemas.microsoft.com/office/drawing/2014/main" id="{AF778DA5-2E76-4243-A41F-622B0A370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2"/>
            <a:ext cx="12213872"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5E2ECF49-80AF-40F0-8F4E-A3FD1038F9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600" y="329988"/>
            <a:ext cx="11601588" cy="5954377"/>
            <a:chOff x="228600" y="329988"/>
            <a:chExt cx="11601588" cy="5954377"/>
          </a:xfrm>
        </p:grpSpPr>
        <p:sp>
          <p:nvSpPr>
            <p:cNvPr id="23" name="Graphic 10">
              <a:extLst>
                <a:ext uri="{FF2B5EF4-FFF2-40B4-BE49-F238E27FC236}">
                  <a16:creationId xmlns:a16="http://schemas.microsoft.com/office/drawing/2014/main" id="{3EF42841-9A62-45AD-974F-C5BD69FB17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555219" y="1044769"/>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p:nvSpPr>
            <p:cNvPr id="24" name="Graphic 10">
              <a:extLst>
                <a:ext uri="{FF2B5EF4-FFF2-40B4-BE49-F238E27FC236}">
                  <a16:creationId xmlns:a16="http://schemas.microsoft.com/office/drawing/2014/main" id="{DC90F08D-69EB-4DFA-8AEF-D78641C1F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949692" y="329988"/>
              <a:ext cx="485348" cy="485348"/>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useBgFill="1">
          <p:nvSpPr>
            <p:cNvPr id="25" name="Graphic 10">
              <a:extLst>
                <a:ext uri="{FF2B5EF4-FFF2-40B4-BE49-F238E27FC236}">
                  <a16:creationId xmlns:a16="http://schemas.microsoft.com/office/drawing/2014/main" id="{D7DBA6B9-151F-4966-AE62-954E454948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86405" y="476589"/>
              <a:ext cx="1910011" cy="1910011"/>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p:nvSpPr>
            <p:cNvPr id="26" name="Oval 25">
              <a:extLst>
                <a:ext uri="{FF2B5EF4-FFF2-40B4-BE49-F238E27FC236}">
                  <a16:creationId xmlns:a16="http://schemas.microsoft.com/office/drawing/2014/main" id="{CDE4DFBE-42D6-47AB-96E9-AF8F0E466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9978" y="517613"/>
              <a:ext cx="261660" cy="26166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useBgFill="1">
          <p:nvSpPr>
            <p:cNvPr id="27" name="Oval 26">
              <a:extLst>
                <a:ext uri="{FF2B5EF4-FFF2-40B4-BE49-F238E27FC236}">
                  <a16:creationId xmlns:a16="http://schemas.microsoft.com/office/drawing/2014/main" id="{943A78C4-A856-46A9-AD4C-42016120E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515796" y="5858134"/>
              <a:ext cx="261660" cy="26166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p:nvSpPr>
            <p:cNvPr id="28" name="Oval 27">
              <a:extLst>
                <a:ext uri="{FF2B5EF4-FFF2-40B4-BE49-F238E27FC236}">
                  <a16:creationId xmlns:a16="http://schemas.microsoft.com/office/drawing/2014/main" id="{DCF809D8-1792-42EF-8E81-647E3C93B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28600" y="5865935"/>
              <a:ext cx="418430" cy="418430"/>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sp useBgFill="1">
          <p:nvSpPr>
            <p:cNvPr id="29" name="Oval 28">
              <a:extLst>
                <a:ext uri="{FF2B5EF4-FFF2-40B4-BE49-F238E27FC236}">
                  <a16:creationId xmlns:a16="http://schemas.microsoft.com/office/drawing/2014/main" id="{A10D66A3-5A73-4B90-9D4A-F5CB9BBE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3799" y="370501"/>
              <a:ext cx="476389" cy="476389"/>
            </a:xfrm>
            <a:prstGeom prst="ellipse">
              <a:avLst/>
            </a:prstGeom>
            <a:solidFill>
              <a:schemeClr val="accent2"/>
            </a:solidFill>
            <a:ln w="3848" cap="flat">
              <a:noFill/>
              <a:prstDash val="solid"/>
              <a:miter/>
            </a:ln>
            <a:effectLst>
              <a:outerShdw blurRad="101600" dist="38100" dir="16200000" rotWithShape="0">
                <a:srgbClr val="000000">
                  <a:alpha val="2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00541C2C-3B6D-D473-6194-A419F04CB18A}"/>
              </a:ext>
            </a:extLst>
          </p:cNvPr>
          <p:cNvSpPr>
            <a:spLocks noGrp="1"/>
          </p:cNvSpPr>
          <p:nvPr>
            <p:ph type="title"/>
          </p:nvPr>
        </p:nvSpPr>
        <p:spPr>
          <a:xfrm>
            <a:off x="485634" y="738206"/>
            <a:ext cx="11247400" cy="2603099"/>
          </a:xfrm>
        </p:spPr>
        <p:txBody>
          <a:bodyPr vert="horz" lIns="91440" tIns="45720" rIns="91440" bIns="45720" rtlCol="0" anchor="b">
            <a:normAutofit/>
          </a:bodyPr>
          <a:lstStyle/>
          <a:p>
            <a:pPr algn="ctr"/>
            <a:r>
              <a:rPr lang="pl-PL" sz="5400" u="sng" kern="1200">
                <a:solidFill>
                  <a:srgbClr val="FFFFFF"/>
                </a:solidFill>
                <a:latin typeface="+mj-lt"/>
                <a:ea typeface="+mj-ea"/>
                <a:cs typeface="+mj-cs"/>
              </a:rPr>
              <a:t>Metoda II</a:t>
            </a:r>
            <a:br>
              <a:rPr lang="pl-PL" sz="5400" kern="1200">
                <a:solidFill>
                  <a:srgbClr val="FFFFFF"/>
                </a:solidFill>
                <a:latin typeface="+mj-lt"/>
                <a:ea typeface="+mj-ea"/>
                <a:cs typeface="+mj-cs"/>
              </a:rPr>
            </a:br>
            <a:r>
              <a:rPr lang="pl-PL" sz="5400" kern="1200">
                <a:solidFill>
                  <a:srgbClr val="FFFFFF"/>
                </a:solidFill>
                <a:latin typeface="+mj-lt"/>
                <a:ea typeface="+mj-ea"/>
                <a:cs typeface="+mj-cs"/>
              </a:rPr>
              <a:t>Triangulacja </a:t>
            </a:r>
            <a:r>
              <a:rPr lang="pl-PL" sz="5400" kern="1200" err="1">
                <a:solidFill>
                  <a:srgbClr val="FFFFFF"/>
                </a:solidFill>
                <a:latin typeface="+mj-lt"/>
                <a:ea typeface="+mj-ea"/>
                <a:cs typeface="+mj-cs"/>
              </a:rPr>
              <a:t>Delaunay’a</a:t>
            </a:r>
            <a:endParaRPr lang="en-US" sz="5400" kern="1200">
              <a:solidFill>
                <a:srgbClr val="FFFFFF"/>
              </a:solidFill>
              <a:latin typeface="+mj-lt"/>
              <a:ea typeface="+mj-ea"/>
              <a:cs typeface="+mj-cs"/>
            </a:endParaRPr>
          </a:p>
        </p:txBody>
      </p:sp>
    </p:spTree>
    <p:extLst>
      <p:ext uri="{BB962C8B-B14F-4D97-AF65-F5344CB8AC3E}">
        <p14:creationId xmlns:p14="http://schemas.microsoft.com/office/powerpoint/2010/main" val="3974930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E471F3-422F-BAD3-40D8-C5438995A0C1}"/>
              </a:ext>
            </a:extLst>
          </p:cNvPr>
          <p:cNvSpPr>
            <a:spLocks noGrp="1"/>
          </p:cNvSpPr>
          <p:nvPr>
            <p:ph type="title"/>
          </p:nvPr>
        </p:nvSpPr>
        <p:spPr/>
        <p:txBody>
          <a:bodyPr/>
          <a:lstStyle/>
          <a:p>
            <a:r>
              <a:rPr lang="pl-PL"/>
              <a:t>Triangulacja </a:t>
            </a:r>
            <a:r>
              <a:rPr lang="pl-PL" err="1"/>
              <a:t>Delaunay’a</a:t>
            </a:r>
            <a:endParaRPr lang="pl-PL"/>
          </a:p>
        </p:txBody>
      </p:sp>
      <p:sp>
        <p:nvSpPr>
          <p:cNvPr id="3" name="Symbol zastępczy zawartości 2">
            <a:extLst>
              <a:ext uri="{FF2B5EF4-FFF2-40B4-BE49-F238E27FC236}">
                <a16:creationId xmlns:a16="http://schemas.microsoft.com/office/drawing/2014/main" id="{3C64395F-7DA9-CA66-23A9-E4078EF308CF}"/>
              </a:ext>
            </a:extLst>
          </p:cNvPr>
          <p:cNvSpPr>
            <a:spLocks noGrp="1"/>
          </p:cNvSpPr>
          <p:nvPr>
            <p:ph idx="1"/>
          </p:nvPr>
        </p:nvSpPr>
        <p:spPr>
          <a:xfrm>
            <a:off x="838200" y="2282825"/>
            <a:ext cx="10515600" cy="4351338"/>
          </a:xfrm>
        </p:spPr>
        <p:txBody>
          <a:bodyPr/>
          <a:lstStyle/>
          <a:p>
            <a:r>
              <a:rPr lang="pl-PL" b="0" i="0">
                <a:effectLst/>
              </a:rPr>
              <a:t>Triangulacja </a:t>
            </a:r>
            <a:r>
              <a:rPr lang="pl-PL" b="0" i="0" err="1">
                <a:effectLst/>
              </a:rPr>
              <a:t>Delaunay’a</a:t>
            </a:r>
            <a:r>
              <a:rPr lang="pl-PL" b="0" i="0">
                <a:effectLst/>
              </a:rPr>
              <a:t> jest to triangulacja zbioru punktów na płaszczyźnie 2D taka, że żaden punkt nie leży wewnątrz okręgu opisanego na trójkącie należącym do triangulacji. Triangulacja </a:t>
            </a:r>
            <a:r>
              <a:rPr lang="pl-PL" b="0" i="0" err="1">
                <a:effectLst/>
              </a:rPr>
              <a:t>Delaunay’a</a:t>
            </a:r>
            <a:r>
              <a:rPr lang="pl-PL" b="0" i="0">
                <a:effectLst/>
              </a:rPr>
              <a:t> jest używana m.in. do modelowania terenu, automatycznego generowania </a:t>
            </a:r>
            <a:r>
              <a:rPr lang="pl-PL" b="0" i="0" err="1">
                <a:effectLst/>
              </a:rPr>
              <a:t>mesh</a:t>
            </a:r>
            <a:r>
              <a:rPr lang="pl-PL" err="1"/>
              <a:t>u</a:t>
            </a:r>
            <a:r>
              <a:rPr lang="pl-PL" b="0" i="0">
                <a:effectLst/>
              </a:rPr>
              <a:t>.</a:t>
            </a:r>
          </a:p>
          <a:p>
            <a:r>
              <a:rPr lang="pl-PL" b="0" i="0">
                <a:solidFill>
                  <a:srgbClr val="444444"/>
                </a:solidFill>
                <a:effectLst/>
              </a:rPr>
              <a:t> </a:t>
            </a:r>
            <a:r>
              <a:rPr lang="pl-PL"/>
              <a:t>Dalej rozpatrywany algorytm to triangulacja </a:t>
            </a:r>
            <a:r>
              <a:rPr lang="pl-PL" err="1"/>
              <a:t>Delaunay’a</a:t>
            </a:r>
            <a:r>
              <a:rPr lang="pl-PL"/>
              <a:t> z ograniczeniami (z procedurami odzyskania krawędzi oraz usuwania trójkątów zewnętrznych). (triangulacja wieloboku)</a:t>
            </a:r>
          </a:p>
        </p:txBody>
      </p:sp>
    </p:spTree>
    <p:extLst>
      <p:ext uri="{BB962C8B-B14F-4D97-AF65-F5344CB8AC3E}">
        <p14:creationId xmlns:p14="http://schemas.microsoft.com/office/powerpoint/2010/main" val="377280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2057" name="Rectangle 2056">
            <a:extLst>
              <a:ext uri="{FF2B5EF4-FFF2-40B4-BE49-F238E27FC236}">
                <a16:creationId xmlns:a16="http://schemas.microsoft.com/office/drawing/2014/main" id="{CBF27B2E-4DE7-47FD-8277-1C6703DB2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2059" name="Group 2058">
            <a:extLst>
              <a:ext uri="{FF2B5EF4-FFF2-40B4-BE49-F238E27FC236}">
                <a16:creationId xmlns:a16="http://schemas.microsoft.com/office/drawing/2014/main" id="{30E84C15-9243-4CCA-86B8-7A13EE2808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5308" y="128465"/>
            <a:ext cx="1888871" cy="1471725"/>
            <a:chOff x="195308" y="128465"/>
            <a:chExt cx="1888871" cy="1471725"/>
          </a:xfrm>
        </p:grpSpPr>
        <p:sp useBgFill="1">
          <p:nvSpPr>
            <p:cNvPr id="2060" name="Graphic 10">
              <a:extLst>
                <a:ext uri="{FF2B5EF4-FFF2-40B4-BE49-F238E27FC236}">
                  <a16:creationId xmlns:a16="http://schemas.microsoft.com/office/drawing/2014/main" id="{E014A4E0-2539-4DA0-A0B5-715898474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54841" y="128465"/>
              <a:ext cx="966722" cy="966722"/>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061" name="Oval 2060">
              <a:extLst>
                <a:ext uri="{FF2B5EF4-FFF2-40B4-BE49-F238E27FC236}">
                  <a16:creationId xmlns:a16="http://schemas.microsoft.com/office/drawing/2014/main" id="{6A55503D-2920-4B77-A454-8FEA3378B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5308" y="1338299"/>
              <a:ext cx="261891" cy="26189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062" name="Oval 2061">
              <a:extLst>
                <a:ext uri="{FF2B5EF4-FFF2-40B4-BE49-F238E27FC236}">
                  <a16:creationId xmlns:a16="http://schemas.microsoft.com/office/drawing/2014/main" id="{E5300822-6CE9-4457-8099-6BF7922A9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95456" y="625555"/>
              <a:ext cx="388723" cy="3887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047E4C8B-7914-C79D-0E51-3531F5A543EA}"/>
              </a:ext>
            </a:extLst>
          </p:cNvPr>
          <p:cNvSpPr>
            <a:spLocks noGrp="1"/>
          </p:cNvSpPr>
          <p:nvPr>
            <p:ph type="title"/>
          </p:nvPr>
        </p:nvSpPr>
        <p:spPr>
          <a:xfrm>
            <a:off x="457197" y="212619"/>
            <a:ext cx="4419601" cy="2775141"/>
          </a:xfrm>
        </p:spPr>
        <p:txBody>
          <a:bodyPr anchor="b">
            <a:normAutofit/>
          </a:bodyPr>
          <a:lstStyle/>
          <a:p>
            <a:pPr algn="ctr"/>
            <a:r>
              <a:rPr lang="pl-PL" sz="4100"/>
              <a:t>Struktura danych do przechowywania siatki triangulacji</a:t>
            </a:r>
          </a:p>
        </p:txBody>
      </p:sp>
      <p:sp>
        <p:nvSpPr>
          <p:cNvPr id="3" name="Symbol zastępczy zawartości 2">
            <a:extLst>
              <a:ext uri="{FF2B5EF4-FFF2-40B4-BE49-F238E27FC236}">
                <a16:creationId xmlns:a16="http://schemas.microsoft.com/office/drawing/2014/main" id="{4B50D2CC-134F-1F5C-1BEC-09CCAA4A3D78}"/>
              </a:ext>
            </a:extLst>
          </p:cNvPr>
          <p:cNvSpPr>
            <a:spLocks noGrp="1"/>
          </p:cNvSpPr>
          <p:nvPr>
            <p:ph idx="1"/>
          </p:nvPr>
        </p:nvSpPr>
        <p:spPr>
          <a:xfrm>
            <a:off x="558597" y="3400696"/>
            <a:ext cx="4085303" cy="2969342"/>
          </a:xfrm>
        </p:spPr>
        <p:txBody>
          <a:bodyPr anchor="t">
            <a:normAutofit fontScale="92500" lnSpcReduction="10000"/>
          </a:bodyPr>
          <a:lstStyle/>
          <a:p>
            <a:r>
              <a:rPr lang="pl-PL" sz="1800"/>
              <a:t>Do reprezentacji siatki użyta została struktura Half-Edge posiada on następujące atrybuty:</a:t>
            </a:r>
          </a:p>
          <a:p>
            <a:r>
              <a:rPr lang="pl-PL" sz="1800" err="1"/>
              <a:t>origin</a:t>
            </a:r>
            <a:r>
              <a:rPr lang="pl-PL" sz="1800"/>
              <a:t> – punkt z którego </a:t>
            </a:r>
            <a:r>
              <a:rPr lang="pl-PL" sz="1800" err="1"/>
              <a:t>półkrawędź</a:t>
            </a:r>
            <a:r>
              <a:rPr lang="pl-PL" sz="1800"/>
              <a:t> wychodzi</a:t>
            </a:r>
          </a:p>
          <a:p>
            <a:r>
              <a:rPr lang="pl-PL" sz="1800" err="1"/>
              <a:t>next</a:t>
            </a:r>
            <a:r>
              <a:rPr lang="pl-PL" sz="1800"/>
              <a:t> – następnik (też Half-Edge)</a:t>
            </a:r>
          </a:p>
          <a:p>
            <a:r>
              <a:rPr lang="pl-PL" sz="1800" err="1"/>
              <a:t>prev</a:t>
            </a:r>
            <a:r>
              <a:rPr lang="pl-PL" sz="1800"/>
              <a:t> - poprzednik (też Half-Edge)</a:t>
            </a:r>
          </a:p>
          <a:p>
            <a:r>
              <a:rPr lang="pl-PL" sz="1800"/>
              <a:t>face – ściana, której jest częścią</a:t>
            </a:r>
          </a:p>
          <a:p>
            <a:r>
              <a:rPr lang="pl-PL" sz="1800" err="1"/>
              <a:t>twin</a:t>
            </a:r>
            <a:r>
              <a:rPr lang="pl-PL" sz="1800"/>
              <a:t> – obiekt Half-Edge zwrócony przeciwnie na tej samej krawędzi</a:t>
            </a:r>
          </a:p>
          <a:p>
            <a:endParaRPr lang="pl-PL" sz="1800"/>
          </a:p>
          <a:p>
            <a:endParaRPr lang="pl-PL" sz="1800"/>
          </a:p>
        </p:txBody>
      </p:sp>
      <p:pic>
        <p:nvPicPr>
          <p:cNvPr id="2050" name="Picture 2" descr="Half-edges.">
            <a:extLst>
              <a:ext uri="{FF2B5EF4-FFF2-40B4-BE49-F238E27FC236}">
                <a16:creationId xmlns:a16="http://schemas.microsoft.com/office/drawing/2014/main" id="{3A21F031-DE20-E1A4-0F39-9E6D83E6F38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3995" y="930248"/>
            <a:ext cx="6299408" cy="503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125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8" name="Rectangle 11">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sp>
        <p:nvSpPr>
          <p:cNvPr id="2" name="Tytuł 1">
            <a:extLst>
              <a:ext uri="{FF2B5EF4-FFF2-40B4-BE49-F238E27FC236}">
                <a16:creationId xmlns:a16="http://schemas.microsoft.com/office/drawing/2014/main" id="{8269C726-2351-1A9B-63A5-BF88CB4358B6}"/>
              </a:ext>
            </a:extLst>
          </p:cNvPr>
          <p:cNvSpPr>
            <a:spLocks noGrp="1"/>
          </p:cNvSpPr>
          <p:nvPr>
            <p:ph type="title"/>
          </p:nvPr>
        </p:nvSpPr>
        <p:spPr>
          <a:xfrm>
            <a:off x="7185797" y="557189"/>
            <a:ext cx="4549002" cy="5743616"/>
          </a:xfrm>
        </p:spPr>
        <p:txBody>
          <a:bodyPr anchor="ctr">
            <a:normAutofit/>
          </a:bodyPr>
          <a:lstStyle/>
          <a:p>
            <a:r>
              <a:rPr lang="pl-PL"/>
              <a:t>Etapy algorytmu</a:t>
            </a:r>
          </a:p>
        </p:txBody>
      </p:sp>
      <p:grpSp>
        <p:nvGrpSpPr>
          <p:cNvPr id="9" name="Group 13">
            <a:extLst>
              <a:ext uri="{FF2B5EF4-FFF2-40B4-BE49-F238E27FC236}">
                <a16:creationId xmlns:a16="http://schemas.microsoft.com/office/drawing/2014/main" id="{1440FEFE-916C-44B0-A9DE-B25DF02A5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3822" y="270868"/>
            <a:ext cx="746901" cy="1032255"/>
            <a:chOff x="403822" y="270868"/>
            <a:chExt cx="746901" cy="1032255"/>
          </a:xfrm>
        </p:grpSpPr>
        <p:sp useBgFill="1">
          <p:nvSpPr>
            <p:cNvPr id="15" name="Oval 14">
              <a:extLst>
                <a:ext uri="{FF2B5EF4-FFF2-40B4-BE49-F238E27FC236}">
                  <a16:creationId xmlns:a16="http://schemas.microsoft.com/office/drawing/2014/main" id="{C746375F-B8FF-4147-85C9-FFD3797F90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403822" y="914400"/>
              <a:ext cx="388723" cy="3887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3831730A-C550-4868-B615-888C8AA9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914400" y="270868"/>
              <a:ext cx="236323" cy="2363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graphicFrame>
        <p:nvGraphicFramePr>
          <p:cNvPr id="5" name="Symbol zastępczy zawartości 2">
            <a:extLst>
              <a:ext uri="{FF2B5EF4-FFF2-40B4-BE49-F238E27FC236}">
                <a16:creationId xmlns:a16="http://schemas.microsoft.com/office/drawing/2014/main" id="{4DF71CE4-F5C0-E42B-9293-3A0CC2C0E189}"/>
              </a:ext>
            </a:extLst>
          </p:cNvPr>
          <p:cNvGraphicFramePr>
            <a:graphicFrameLocks noGrp="1"/>
          </p:cNvGraphicFramePr>
          <p:nvPr>
            <p:ph idx="1"/>
            <p:extLst>
              <p:ext uri="{D42A27DB-BD31-4B8C-83A1-F6EECF244321}">
                <p14:modId xmlns:p14="http://schemas.microsoft.com/office/powerpoint/2010/main" val="619128321"/>
              </p:ext>
            </p:extLst>
          </p:nvPr>
        </p:nvGraphicFramePr>
        <p:xfrm>
          <a:off x="838201" y="557189"/>
          <a:ext cx="6172199" cy="57436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0200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688E590-FC7B-2207-3B51-4D8B0155C015}"/>
              </a:ext>
            </a:extLst>
          </p:cNvPr>
          <p:cNvSpPr>
            <a:spLocks noGrp="1"/>
          </p:cNvSpPr>
          <p:nvPr>
            <p:ph type="title"/>
          </p:nvPr>
        </p:nvSpPr>
        <p:spPr/>
        <p:txBody>
          <a:bodyPr/>
          <a:lstStyle/>
          <a:p>
            <a:r>
              <a:rPr lang="pl-PL"/>
              <a:t>1.Wstępna triangulacja</a:t>
            </a:r>
          </a:p>
        </p:txBody>
      </p:sp>
      <p:sp>
        <p:nvSpPr>
          <p:cNvPr id="3" name="Symbol zastępczy zawartości 2">
            <a:extLst>
              <a:ext uri="{FF2B5EF4-FFF2-40B4-BE49-F238E27FC236}">
                <a16:creationId xmlns:a16="http://schemas.microsoft.com/office/drawing/2014/main" id="{AE832A54-2880-1C77-B4F3-F04835723437}"/>
              </a:ext>
            </a:extLst>
          </p:cNvPr>
          <p:cNvSpPr>
            <a:spLocks noGrp="1"/>
          </p:cNvSpPr>
          <p:nvPr>
            <p:ph idx="1"/>
          </p:nvPr>
        </p:nvSpPr>
        <p:spPr>
          <a:xfrm>
            <a:off x="838200" y="1825625"/>
            <a:ext cx="6477000" cy="4351338"/>
          </a:xfrm>
        </p:spPr>
        <p:txBody>
          <a:bodyPr>
            <a:normAutofit fontScale="92500" lnSpcReduction="10000"/>
          </a:bodyPr>
          <a:lstStyle/>
          <a:p>
            <a:r>
              <a:rPr lang="pl-PL"/>
              <a:t>Mając triangulację n punktów dokładamy kolejny punkt, uwzględniając warunek okręgu (w okręgu opisanym na trójkącie nie może się zawierać żaden inny punkt) otrzymujemy triangulację dla n+1 punktów.</a:t>
            </a:r>
          </a:p>
          <a:p>
            <a:endParaRPr lang="pl-PL"/>
          </a:p>
          <a:p>
            <a:r>
              <a:rPr lang="pl-PL"/>
              <a:t>Jako początkowy stan triangulacji przyjmujemy trójkąt zawierający wszystkie punkty zbioru, zatem jest to triangulacja dla n=3 punktów.</a:t>
            </a:r>
          </a:p>
        </p:txBody>
      </p:sp>
      <p:pic>
        <p:nvPicPr>
          <p:cNvPr id="5" name="Obraz 4">
            <a:extLst>
              <a:ext uri="{FF2B5EF4-FFF2-40B4-BE49-F238E27FC236}">
                <a16:creationId xmlns:a16="http://schemas.microsoft.com/office/drawing/2014/main" id="{DE065501-328E-4A3D-E1D1-24B0B0FC4A67}"/>
              </a:ext>
            </a:extLst>
          </p:cNvPr>
          <p:cNvPicPr>
            <a:picLocks noChangeAspect="1"/>
          </p:cNvPicPr>
          <p:nvPr/>
        </p:nvPicPr>
        <p:blipFill>
          <a:blip r:embed="rId2"/>
          <a:stretch>
            <a:fillRect/>
          </a:stretch>
        </p:blipFill>
        <p:spPr>
          <a:xfrm>
            <a:off x="7315200" y="1690688"/>
            <a:ext cx="4705350" cy="3529012"/>
          </a:xfrm>
          <a:prstGeom prst="rect">
            <a:avLst/>
          </a:prstGeom>
        </p:spPr>
      </p:pic>
    </p:spTree>
    <p:extLst>
      <p:ext uri="{BB962C8B-B14F-4D97-AF65-F5344CB8AC3E}">
        <p14:creationId xmlns:p14="http://schemas.microsoft.com/office/powerpoint/2010/main" val="1073027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1" name="Rectangle 10">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sp>
        <p:nvSpPr>
          <p:cNvPr id="2" name="Tytuł 1">
            <a:extLst>
              <a:ext uri="{FF2B5EF4-FFF2-40B4-BE49-F238E27FC236}">
                <a16:creationId xmlns:a16="http://schemas.microsoft.com/office/drawing/2014/main" id="{D5116786-F7DA-0FA6-E10B-B8B67DB1E6F2}"/>
              </a:ext>
            </a:extLst>
          </p:cNvPr>
          <p:cNvSpPr>
            <a:spLocks noGrp="1"/>
          </p:cNvSpPr>
          <p:nvPr>
            <p:ph type="title"/>
          </p:nvPr>
        </p:nvSpPr>
        <p:spPr>
          <a:xfrm>
            <a:off x="457201" y="557189"/>
            <a:ext cx="4549002" cy="5743616"/>
          </a:xfrm>
        </p:spPr>
        <p:txBody>
          <a:bodyPr anchor="ctr">
            <a:normAutofit/>
          </a:bodyPr>
          <a:lstStyle/>
          <a:p>
            <a:r>
              <a:rPr lang="pl-PL"/>
              <a:t>Wstawienie punktu</a:t>
            </a:r>
          </a:p>
        </p:txBody>
      </p:sp>
      <p:grpSp>
        <p:nvGrpSpPr>
          <p:cNvPr id="13" name="Group 12">
            <a:extLst>
              <a:ext uri="{FF2B5EF4-FFF2-40B4-BE49-F238E27FC236}">
                <a16:creationId xmlns:a16="http://schemas.microsoft.com/office/drawing/2014/main" id="{2668F617-A865-44FB-B7FA-D3D82EB305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4188" y="339903"/>
            <a:ext cx="2359700" cy="1660157"/>
            <a:chOff x="2364188" y="339903"/>
            <a:chExt cx="2359700" cy="1660157"/>
          </a:xfrm>
        </p:grpSpPr>
        <p:sp useBgFill="1">
          <p:nvSpPr>
            <p:cNvPr id="14" name="Graphic 10">
              <a:extLst>
                <a:ext uri="{FF2B5EF4-FFF2-40B4-BE49-F238E27FC236}">
                  <a16:creationId xmlns:a16="http://schemas.microsoft.com/office/drawing/2014/main" id="{1E049813-75C2-4C4C-884E-5480698BEB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156361" y="339903"/>
              <a:ext cx="1567527" cy="156752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4CA4D6DA-0C20-43AD-AD68-1F7A6E41E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13508" y="1824184"/>
              <a:ext cx="175876" cy="17587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CE6E5024-CAC1-4B1A-8AAD-E805A19D9D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64188" y="914400"/>
              <a:ext cx="348801" cy="34880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graphicFrame>
        <p:nvGraphicFramePr>
          <p:cNvPr id="5" name="Symbol zastępczy zawartości 2">
            <a:extLst>
              <a:ext uri="{FF2B5EF4-FFF2-40B4-BE49-F238E27FC236}">
                <a16:creationId xmlns:a16="http://schemas.microsoft.com/office/drawing/2014/main" id="{176D37DC-2BDF-E107-2083-77930EB9F196}"/>
              </a:ext>
            </a:extLst>
          </p:cNvPr>
          <p:cNvGraphicFramePr>
            <a:graphicFrameLocks noGrp="1"/>
          </p:cNvGraphicFramePr>
          <p:nvPr>
            <p:ph idx="1"/>
            <p:extLst>
              <p:ext uri="{D42A27DB-BD31-4B8C-83A1-F6EECF244321}">
                <p14:modId xmlns:p14="http://schemas.microsoft.com/office/powerpoint/2010/main" val="3234116657"/>
              </p:ext>
            </p:extLst>
          </p:nvPr>
        </p:nvGraphicFramePr>
        <p:xfrm>
          <a:off x="5181600" y="557189"/>
          <a:ext cx="6172199" cy="57436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7907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7350EC-D9AE-4B11-F78A-83C41B3074C6}"/>
              </a:ext>
            </a:extLst>
          </p:cNvPr>
          <p:cNvSpPr>
            <a:spLocks noGrp="1"/>
          </p:cNvSpPr>
          <p:nvPr>
            <p:ph type="title"/>
          </p:nvPr>
        </p:nvSpPr>
        <p:spPr/>
        <p:txBody>
          <a:bodyPr>
            <a:normAutofit/>
          </a:bodyPr>
          <a:lstStyle/>
          <a:p>
            <a:r>
              <a:rPr lang="pl-PL" sz="3600"/>
              <a:t>Wyszukanie trójkąta, w którym zawiera się punkt</a:t>
            </a:r>
          </a:p>
        </p:txBody>
      </p:sp>
      <p:sp>
        <p:nvSpPr>
          <p:cNvPr id="3" name="Symbol zastępczy zawartości 2">
            <a:extLst>
              <a:ext uri="{FF2B5EF4-FFF2-40B4-BE49-F238E27FC236}">
                <a16:creationId xmlns:a16="http://schemas.microsoft.com/office/drawing/2014/main" id="{F6627021-A276-2E78-5E8A-49B75BC46D82}"/>
              </a:ext>
            </a:extLst>
          </p:cNvPr>
          <p:cNvSpPr>
            <a:spLocks noGrp="1"/>
          </p:cNvSpPr>
          <p:nvPr>
            <p:ph idx="1"/>
          </p:nvPr>
        </p:nvSpPr>
        <p:spPr>
          <a:xfrm>
            <a:off x="838200" y="1592162"/>
            <a:ext cx="10515600" cy="4351338"/>
          </a:xfrm>
        </p:spPr>
        <p:txBody>
          <a:bodyPr>
            <a:normAutofit/>
          </a:bodyPr>
          <a:lstStyle/>
          <a:p>
            <a:r>
              <a:rPr lang="pl-PL" sz="2000"/>
              <a:t>Wyszukiwanie odbywa się przy pomocy funkcji orient(), która przyjmuje </a:t>
            </a:r>
            <a:r>
              <a:rPr lang="pl-PL" sz="2000" err="1"/>
              <a:t>półkrawędź</a:t>
            </a:r>
            <a:r>
              <a:rPr lang="pl-PL" sz="2000"/>
              <a:t> oraz dany punkt. </a:t>
            </a:r>
            <a:r>
              <a:rPr lang="pl-PL" sz="2000" err="1"/>
              <a:t>Półkrawędzie</a:t>
            </a:r>
            <a:r>
              <a:rPr lang="pl-PL" sz="2000"/>
              <a:t> są skierowane otrzymujemy, zatem informacje czy punkt leży po prawej czy po lewej danej </a:t>
            </a:r>
            <a:r>
              <a:rPr lang="pl-PL" sz="2000" err="1"/>
              <a:t>półkrawędzi</a:t>
            </a:r>
            <a:r>
              <a:rPr lang="pl-PL" sz="2000"/>
              <a:t>. Każdy trójkąt reprezentowany jest przez trzy </a:t>
            </a:r>
            <a:r>
              <a:rPr lang="pl-PL" sz="2000" err="1"/>
              <a:t>półkrawędzie</a:t>
            </a:r>
            <a:r>
              <a:rPr lang="pl-PL" sz="2000"/>
              <a:t> skierowane przeciwnie do wskazówek zegara. Jeśli funkcja orient dla danego trójkąta zwróci dodatnią wartość (punkt leży po lewej) dla wszystkich </a:t>
            </a:r>
            <a:r>
              <a:rPr lang="pl-PL" sz="2000" err="1"/>
              <a:t>półkrawędzi</a:t>
            </a:r>
            <a:r>
              <a:rPr lang="pl-PL" sz="2000"/>
              <a:t> to oznacza iż rozpatrywany trójkąt jest szukanym. Gdy dla którejkolwiek z </a:t>
            </a:r>
            <a:r>
              <a:rPr lang="pl-PL" sz="2000" err="1"/>
              <a:t>półkrawędzi</a:t>
            </a:r>
            <a:r>
              <a:rPr lang="pl-PL" sz="2000"/>
              <a:t> punkt leży po prawej porzucamy aktualnie rozpatrywany trójkąt i przechodzimy do sąsiada sąsiadującego rozpatrywaną krawędzią.</a:t>
            </a:r>
          </a:p>
        </p:txBody>
      </p:sp>
      <p:pic>
        <p:nvPicPr>
          <p:cNvPr id="5" name="Obraz 4">
            <a:extLst>
              <a:ext uri="{FF2B5EF4-FFF2-40B4-BE49-F238E27FC236}">
                <a16:creationId xmlns:a16="http://schemas.microsoft.com/office/drawing/2014/main" id="{7232F2DD-288F-AE83-973C-9CDB21F7D586}"/>
              </a:ext>
            </a:extLst>
          </p:cNvPr>
          <p:cNvPicPr>
            <a:picLocks noChangeAspect="1"/>
          </p:cNvPicPr>
          <p:nvPr/>
        </p:nvPicPr>
        <p:blipFill>
          <a:blip r:embed="rId2"/>
          <a:stretch>
            <a:fillRect/>
          </a:stretch>
        </p:blipFill>
        <p:spPr>
          <a:xfrm>
            <a:off x="3497985" y="4142685"/>
            <a:ext cx="4682977" cy="2246306"/>
          </a:xfrm>
          <a:prstGeom prst="rect">
            <a:avLst/>
          </a:prstGeom>
        </p:spPr>
      </p:pic>
    </p:spTree>
    <p:extLst>
      <p:ext uri="{BB962C8B-B14F-4D97-AF65-F5344CB8AC3E}">
        <p14:creationId xmlns:p14="http://schemas.microsoft.com/office/powerpoint/2010/main" val="2182073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13FED21-391B-EEB9-A9C4-B38571B167B1}"/>
              </a:ext>
            </a:extLst>
          </p:cNvPr>
          <p:cNvSpPr>
            <a:spLocks noGrp="1"/>
          </p:cNvSpPr>
          <p:nvPr>
            <p:ph type="title"/>
          </p:nvPr>
        </p:nvSpPr>
        <p:spPr/>
        <p:txBody>
          <a:bodyPr/>
          <a:lstStyle/>
          <a:p>
            <a:r>
              <a:rPr lang="pl-PL"/>
              <a:t>Wyszukiwanie trójkątów, których otoczki zawierają dany punkt</a:t>
            </a:r>
          </a:p>
        </p:txBody>
      </p:sp>
      <p:sp>
        <p:nvSpPr>
          <p:cNvPr id="3" name="Symbol zastępczy zawartości 2">
            <a:extLst>
              <a:ext uri="{FF2B5EF4-FFF2-40B4-BE49-F238E27FC236}">
                <a16:creationId xmlns:a16="http://schemas.microsoft.com/office/drawing/2014/main" id="{A0571A51-52EE-B221-FE5C-A62DDEF57148}"/>
              </a:ext>
            </a:extLst>
          </p:cNvPr>
          <p:cNvSpPr>
            <a:spLocks noGrp="1"/>
          </p:cNvSpPr>
          <p:nvPr>
            <p:ph idx="1"/>
          </p:nvPr>
        </p:nvSpPr>
        <p:spPr/>
        <p:txBody>
          <a:bodyPr/>
          <a:lstStyle/>
          <a:p>
            <a:r>
              <a:rPr lang="pl-PL"/>
              <a:t>Po znalezieniu trójkąta zawierającego wstawiany punkt przy pomocy przeszukiwanie w szerz (BFS) szukamy wszystkich trójkątów, które w swej otoczce zawierają wstawiany punkt.</a:t>
            </a:r>
          </a:p>
          <a:p>
            <a:r>
              <a:rPr lang="pl-PL"/>
              <a:t>Realizacja BFS:</a:t>
            </a:r>
          </a:p>
          <a:p>
            <a:pPr marL="0" indent="0">
              <a:buNone/>
            </a:pPr>
            <a:r>
              <a:rPr lang="pl-PL"/>
              <a:t>	Jeśli dany trójkąt w swej otoczce zawiera dany punkt, do kolejki dodawane są wszystkie trójkąty będące sąsiadami rozpatrywanego, algorytm wykonuje się dopóki wszystkie trójkąty zawierające w swym okręgu opisanym wstawiany punkt nie zostaną przetworzone.</a:t>
            </a:r>
          </a:p>
        </p:txBody>
      </p:sp>
    </p:spTree>
    <p:extLst>
      <p:ext uri="{BB962C8B-B14F-4D97-AF65-F5344CB8AC3E}">
        <p14:creationId xmlns:p14="http://schemas.microsoft.com/office/powerpoint/2010/main" val="2475545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AD7DC1A-FE4F-55BA-5863-C941E73BCE15}"/>
              </a:ext>
            </a:extLst>
          </p:cNvPr>
          <p:cNvSpPr>
            <a:spLocks noGrp="1"/>
          </p:cNvSpPr>
          <p:nvPr>
            <p:ph type="title"/>
          </p:nvPr>
        </p:nvSpPr>
        <p:spPr>
          <a:xfrm>
            <a:off x="1013616" y="1017139"/>
            <a:ext cx="9711128" cy="819337"/>
          </a:xfrm>
        </p:spPr>
        <p:txBody>
          <a:bodyPr>
            <a:noAutofit/>
          </a:bodyPr>
          <a:lstStyle/>
          <a:p>
            <a:r>
              <a:rPr lang="pl-PL" sz="1600"/>
              <a:t>Na pierwszym rysunku widać okręgi opisane na dwóch trójkątach, w których zawiera się wstawiany punkt. Następnie zostały one usunięte i zastąpione trójkątami utworzonymi poprzez połączenie dodawanego punktu z punktami będącymi wierzchołkami wielokąta utworzonego przez usunięte trójkąty.</a:t>
            </a:r>
          </a:p>
        </p:txBody>
      </p:sp>
      <p:pic>
        <p:nvPicPr>
          <p:cNvPr id="13" name="Obraz 12">
            <a:extLst>
              <a:ext uri="{FF2B5EF4-FFF2-40B4-BE49-F238E27FC236}">
                <a16:creationId xmlns:a16="http://schemas.microsoft.com/office/drawing/2014/main" id="{A8B77254-4B12-AB84-EE81-64A541D35B77}"/>
              </a:ext>
            </a:extLst>
          </p:cNvPr>
          <p:cNvPicPr>
            <a:picLocks noChangeAspect="1"/>
          </p:cNvPicPr>
          <p:nvPr/>
        </p:nvPicPr>
        <p:blipFill>
          <a:blip r:embed="rId2"/>
          <a:stretch>
            <a:fillRect/>
          </a:stretch>
        </p:blipFill>
        <p:spPr>
          <a:xfrm>
            <a:off x="509081" y="2013626"/>
            <a:ext cx="5216863" cy="3928095"/>
          </a:xfrm>
          <a:prstGeom prst="rect">
            <a:avLst/>
          </a:prstGeom>
        </p:spPr>
      </p:pic>
      <p:pic>
        <p:nvPicPr>
          <p:cNvPr id="15" name="Obraz 14">
            <a:extLst>
              <a:ext uri="{FF2B5EF4-FFF2-40B4-BE49-F238E27FC236}">
                <a16:creationId xmlns:a16="http://schemas.microsoft.com/office/drawing/2014/main" id="{5D645A24-CC93-CE47-A0A7-1F7150935299}"/>
              </a:ext>
            </a:extLst>
          </p:cNvPr>
          <p:cNvPicPr>
            <a:picLocks noChangeAspect="1"/>
          </p:cNvPicPr>
          <p:nvPr/>
        </p:nvPicPr>
        <p:blipFill>
          <a:blip r:embed="rId3"/>
          <a:stretch>
            <a:fillRect/>
          </a:stretch>
        </p:blipFill>
        <p:spPr>
          <a:xfrm>
            <a:off x="5714801" y="1681006"/>
            <a:ext cx="5680953" cy="4260715"/>
          </a:xfrm>
          <a:prstGeom prst="rect">
            <a:avLst/>
          </a:prstGeom>
        </p:spPr>
      </p:pic>
      <mc:AlternateContent xmlns:mc="http://schemas.openxmlformats.org/markup-compatibility/2006" xmlns:p14="http://schemas.microsoft.com/office/powerpoint/2010/main">
        <mc:Choice Requires="p14">
          <p:contentPart p14:bwMode="auto" r:id="rId4">
            <p14:nvContentPartPr>
              <p14:cNvPr id="19" name="Pismo odręczne 18">
                <a:extLst>
                  <a:ext uri="{FF2B5EF4-FFF2-40B4-BE49-F238E27FC236}">
                    <a16:creationId xmlns:a16="http://schemas.microsoft.com/office/drawing/2014/main" id="{AD73410C-6B1A-8503-2F8F-6FFB92D5841D}"/>
                  </a:ext>
                </a:extLst>
              </p14:cNvPr>
              <p14:cNvContentPartPr/>
              <p14:nvPr/>
            </p14:nvContentPartPr>
            <p14:xfrm>
              <a:off x="3369401" y="2363883"/>
              <a:ext cx="1982520" cy="2939400"/>
            </p14:xfrm>
          </p:contentPart>
        </mc:Choice>
        <mc:Fallback xmlns="">
          <p:pic>
            <p:nvPicPr>
              <p:cNvPr id="19" name="Pismo odręczne 18">
                <a:extLst>
                  <a:ext uri="{FF2B5EF4-FFF2-40B4-BE49-F238E27FC236}">
                    <a16:creationId xmlns:a16="http://schemas.microsoft.com/office/drawing/2014/main" id="{AD73410C-6B1A-8503-2F8F-6FFB92D5841D}"/>
                  </a:ext>
                </a:extLst>
              </p:cNvPr>
              <p:cNvPicPr/>
              <p:nvPr/>
            </p:nvPicPr>
            <p:blipFill>
              <a:blip r:embed="rId5"/>
              <a:stretch>
                <a:fillRect/>
              </a:stretch>
            </p:blipFill>
            <p:spPr>
              <a:xfrm>
                <a:off x="3333408" y="2291883"/>
                <a:ext cx="2054147" cy="3083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Pismo odręczne 19">
                <a:extLst>
                  <a:ext uri="{FF2B5EF4-FFF2-40B4-BE49-F238E27FC236}">
                    <a16:creationId xmlns:a16="http://schemas.microsoft.com/office/drawing/2014/main" id="{A71B7832-9B78-DE11-7D19-5CE78F03C08B}"/>
                  </a:ext>
                </a:extLst>
              </p14:cNvPr>
              <p14:cNvContentPartPr/>
              <p14:nvPr/>
            </p14:nvContentPartPr>
            <p14:xfrm>
              <a:off x="3367601" y="2416083"/>
              <a:ext cx="461880" cy="2373840"/>
            </p14:xfrm>
          </p:contentPart>
        </mc:Choice>
        <mc:Fallback xmlns="">
          <p:pic>
            <p:nvPicPr>
              <p:cNvPr id="20" name="Pismo odręczne 19">
                <a:extLst>
                  <a:ext uri="{FF2B5EF4-FFF2-40B4-BE49-F238E27FC236}">
                    <a16:creationId xmlns:a16="http://schemas.microsoft.com/office/drawing/2014/main" id="{A71B7832-9B78-DE11-7D19-5CE78F03C08B}"/>
                  </a:ext>
                </a:extLst>
              </p:cNvPr>
              <p:cNvPicPr/>
              <p:nvPr/>
            </p:nvPicPr>
            <p:blipFill>
              <a:blip r:embed="rId7"/>
              <a:stretch>
                <a:fillRect/>
              </a:stretch>
            </p:blipFill>
            <p:spPr>
              <a:xfrm>
                <a:off x="3331573" y="2344083"/>
                <a:ext cx="533576" cy="2517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Pismo odręczne 20">
                <a:extLst>
                  <a:ext uri="{FF2B5EF4-FFF2-40B4-BE49-F238E27FC236}">
                    <a16:creationId xmlns:a16="http://schemas.microsoft.com/office/drawing/2014/main" id="{C0800961-3FB0-EFBE-8D3A-AB1A4D88A693}"/>
                  </a:ext>
                </a:extLst>
              </p14:cNvPr>
              <p14:cNvContentPartPr/>
              <p14:nvPr/>
            </p14:nvContentPartPr>
            <p14:xfrm>
              <a:off x="2824361" y="2398443"/>
              <a:ext cx="519480" cy="2442600"/>
            </p14:xfrm>
          </p:contentPart>
        </mc:Choice>
        <mc:Fallback xmlns="">
          <p:pic>
            <p:nvPicPr>
              <p:cNvPr id="21" name="Pismo odręczne 20">
                <a:extLst>
                  <a:ext uri="{FF2B5EF4-FFF2-40B4-BE49-F238E27FC236}">
                    <a16:creationId xmlns:a16="http://schemas.microsoft.com/office/drawing/2014/main" id="{C0800961-3FB0-EFBE-8D3A-AB1A4D88A693}"/>
                  </a:ext>
                </a:extLst>
              </p:cNvPr>
              <p:cNvPicPr/>
              <p:nvPr/>
            </p:nvPicPr>
            <p:blipFill>
              <a:blip r:embed="rId9"/>
              <a:stretch>
                <a:fillRect/>
              </a:stretch>
            </p:blipFill>
            <p:spPr>
              <a:xfrm>
                <a:off x="2788361" y="2326443"/>
                <a:ext cx="591120" cy="2586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Pismo odręczne 21">
                <a:extLst>
                  <a:ext uri="{FF2B5EF4-FFF2-40B4-BE49-F238E27FC236}">
                    <a16:creationId xmlns:a16="http://schemas.microsoft.com/office/drawing/2014/main" id="{68BBC957-2A4B-CD6F-EE32-C86315CAB447}"/>
                  </a:ext>
                </a:extLst>
              </p14:cNvPr>
              <p14:cNvContentPartPr/>
              <p14:nvPr/>
            </p14:nvContentPartPr>
            <p14:xfrm>
              <a:off x="2860001" y="4789563"/>
              <a:ext cx="933480" cy="16560"/>
            </p14:xfrm>
          </p:contentPart>
        </mc:Choice>
        <mc:Fallback xmlns="">
          <p:pic>
            <p:nvPicPr>
              <p:cNvPr id="22" name="Pismo odręczne 21">
                <a:extLst>
                  <a:ext uri="{FF2B5EF4-FFF2-40B4-BE49-F238E27FC236}">
                    <a16:creationId xmlns:a16="http://schemas.microsoft.com/office/drawing/2014/main" id="{68BBC957-2A4B-CD6F-EE32-C86315CAB447}"/>
                  </a:ext>
                </a:extLst>
              </p:cNvPr>
              <p:cNvPicPr/>
              <p:nvPr/>
            </p:nvPicPr>
            <p:blipFill>
              <a:blip r:embed="rId11"/>
              <a:stretch>
                <a:fillRect/>
              </a:stretch>
            </p:blipFill>
            <p:spPr>
              <a:xfrm>
                <a:off x="2824001" y="4717563"/>
                <a:ext cx="10051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Pismo odręczne 22">
                <a:extLst>
                  <a:ext uri="{FF2B5EF4-FFF2-40B4-BE49-F238E27FC236}">
                    <a16:creationId xmlns:a16="http://schemas.microsoft.com/office/drawing/2014/main" id="{37E026FD-EBBC-BA56-0987-1F24FC972B7A}"/>
                  </a:ext>
                </a:extLst>
              </p14:cNvPr>
              <p14:cNvContentPartPr/>
              <p14:nvPr/>
            </p14:nvContentPartPr>
            <p14:xfrm>
              <a:off x="3830561" y="4791363"/>
              <a:ext cx="1423080" cy="462600"/>
            </p14:xfrm>
          </p:contentPart>
        </mc:Choice>
        <mc:Fallback xmlns="">
          <p:pic>
            <p:nvPicPr>
              <p:cNvPr id="23" name="Pismo odręczne 22">
                <a:extLst>
                  <a:ext uri="{FF2B5EF4-FFF2-40B4-BE49-F238E27FC236}">
                    <a16:creationId xmlns:a16="http://schemas.microsoft.com/office/drawing/2014/main" id="{37E026FD-EBBC-BA56-0987-1F24FC972B7A}"/>
                  </a:ext>
                </a:extLst>
              </p:cNvPr>
              <p:cNvPicPr/>
              <p:nvPr/>
            </p:nvPicPr>
            <p:blipFill>
              <a:blip r:embed="rId13"/>
              <a:stretch>
                <a:fillRect/>
              </a:stretch>
            </p:blipFill>
            <p:spPr>
              <a:xfrm>
                <a:off x="3794561" y="4719363"/>
                <a:ext cx="1494720" cy="606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Pismo odręczne 23">
                <a:extLst>
                  <a:ext uri="{FF2B5EF4-FFF2-40B4-BE49-F238E27FC236}">
                    <a16:creationId xmlns:a16="http://schemas.microsoft.com/office/drawing/2014/main" id="{529A4378-7117-DCB7-47A3-805E540F2D2E}"/>
                  </a:ext>
                </a:extLst>
              </p14:cNvPr>
              <p14:cNvContentPartPr/>
              <p14:nvPr/>
            </p14:nvContentPartPr>
            <p14:xfrm>
              <a:off x="8623961" y="2393763"/>
              <a:ext cx="475920" cy="1380960"/>
            </p14:xfrm>
          </p:contentPart>
        </mc:Choice>
        <mc:Fallback xmlns="">
          <p:pic>
            <p:nvPicPr>
              <p:cNvPr id="24" name="Pismo odręczne 23">
                <a:extLst>
                  <a:ext uri="{FF2B5EF4-FFF2-40B4-BE49-F238E27FC236}">
                    <a16:creationId xmlns:a16="http://schemas.microsoft.com/office/drawing/2014/main" id="{529A4378-7117-DCB7-47A3-805E540F2D2E}"/>
                  </a:ext>
                </a:extLst>
              </p:cNvPr>
              <p:cNvPicPr/>
              <p:nvPr/>
            </p:nvPicPr>
            <p:blipFill>
              <a:blip r:embed="rId15"/>
              <a:stretch>
                <a:fillRect/>
              </a:stretch>
            </p:blipFill>
            <p:spPr>
              <a:xfrm>
                <a:off x="8587934" y="2321763"/>
                <a:ext cx="547614" cy="1524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Pismo odręczne 24">
                <a:extLst>
                  <a:ext uri="{FF2B5EF4-FFF2-40B4-BE49-F238E27FC236}">
                    <a16:creationId xmlns:a16="http://schemas.microsoft.com/office/drawing/2014/main" id="{A55B08E2-82F5-95AF-1D98-53C3CB347694}"/>
                  </a:ext>
                </a:extLst>
              </p14:cNvPr>
              <p14:cNvContentPartPr/>
              <p14:nvPr/>
            </p14:nvContentPartPr>
            <p14:xfrm>
              <a:off x="9126521" y="3840243"/>
              <a:ext cx="1434960" cy="1434960"/>
            </p14:xfrm>
          </p:contentPart>
        </mc:Choice>
        <mc:Fallback xmlns="">
          <p:pic>
            <p:nvPicPr>
              <p:cNvPr id="25" name="Pismo odręczne 24">
                <a:extLst>
                  <a:ext uri="{FF2B5EF4-FFF2-40B4-BE49-F238E27FC236}">
                    <a16:creationId xmlns:a16="http://schemas.microsoft.com/office/drawing/2014/main" id="{A55B08E2-82F5-95AF-1D98-53C3CB347694}"/>
                  </a:ext>
                </a:extLst>
              </p:cNvPr>
              <p:cNvPicPr/>
              <p:nvPr/>
            </p:nvPicPr>
            <p:blipFill>
              <a:blip r:embed="rId17"/>
              <a:stretch>
                <a:fillRect/>
              </a:stretch>
            </p:blipFill>
            <p:spPr>
              <a:xfrm>
                <a:off x="9090521" y="3768261"/>
                <a:ext cx="1506600" cy="157856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Pismo odręczne 25">
                <a:extLst>
                  <a:ext uri="{FF2B5EF4-FFF2-40B4-BE49-F238E27FC236}">
                    <a16:creationId xmlns:a16="http://schemas.microsoft.com/office/drawing/2014/main" id="{C1FAD77F-60A5-278F-9912-E1EC5250CF5C}"/>
                  </a:ext>
                </a:extLst>
              </p14:cNvPr>
              <p14:cNvContentPartPr/>
              <p14:nvPr/>
            </p14:nvContentPartPr>
            <p14:xfrm>
              <a:off x="9091961" y="3891003"/>
              <a:ext cx="360" cy="903600"/>
            </p14:xfrm>
          </p:contentPart>
        </mc:Choice>
        <mc:Fallback xmlns="">
          <p:pic>
            <p:nvPicPr>
              <p:cNvPr id="26" name="Pismo odręczne 25">
                <a:extLst>
                  <a:ext uri="{FF2B5EF4-FFF2-40B4-BE49-F238E27FC236}">
                    <a16:creationId xmlns:a16="http://schemas.microsoft.com/office/drawing/2014/main" id="{C1FAD77F-60A5-278F-9912-E1EC5250CF5C}"/>
                  </a:ext>
                </a:extLst>
              </p:cNvPr>
              <p:cNvPicPr/>
              <p:nvPr/>
            </p:nvPicPr>
            <p:blipFill>
              <a:blip r:embed="rId19"/>
              <a:stretch>
                <a:fillRect/>
              </a:stretch>
            </p:blipFill>
            <p:spPr>
              <a:xfrm>
                <a:off x="9055961" y="3819003"/>
                <a:ext cx="72000" cy="104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Pismo odręczne 26">
                <a:extLst>
                  <a:ext uri="{FF2B5EF4-FFF2-40B4-BE49-F238E27FC236}">
                    <a16:creationId xmlns:a16="http://schemas.microsoft.com/office/drawing/2014/main" id="{BBD8F8AB-45F8-973B-B50A-EFD8954123A6}"/>
                  </a:ext>
                </a:extLst>
              </p14:cNvPr>
              <p14:cNvContentPartPr/>
              <p14:nvPr/>
            </p14:nvContentPartPr>
            <p14:xfrm>
              <a:off x="8141201" y="3899643"/>
              <a:ext cx="943200" cy="943200"/>
            </p14:xfrm>
          </p:contentPart>
        </mc:Choice>
        <mc:Fallback xmlns="">
          <p:pic>
            <p:nvPicPr>
              <p:cNvPr id="27" name="Pismo odręczne 26">
                <a:extLst>
                  <a:ext uri="{FF2B5EF4-FFF2-40B4-BE49-F238E27FC236}">
                    <a16:creationId xmlns:a16="http://schemas.microsoft.com/office/drawing/2014/main" id="{BBD8F8AB-45F8-973B-B50A-EFD8954123A6}"/>
                  </a:ext>
                </a:extLst>
              </p:cNvPr>
              <p:cNvPicPr/>
              <p:nvPr/>
            </p:nvPicPr>
            <p:blipFill>
              <a:blip r:embed="rId21"/>
              <a:stretch>
                <a:fillRect/>
              </a:stretch>
            </p:blipFill>
            <p:spPr>
              <a:xfrm>
                <a:off x="8105201" y="3827643"/>
                <a:ext cx="1014840" cy="1086840"/>
              </a:xfrm>
              <a:prstGeom prst="rect">
                <a:avLst/>
              </a:prstGeom>
            </p:spPr>
          </p:pic>
        </mc:Fallback>
      </mc:AlternateContent>
      <p:sp>
        <p:nvSpPr>
          <p:cNvPr id="28" name="pole tekstowe 27">
            <a:extLst>
              <a:ext uri="{FF2B5EF4-FFF2-40B4-BE49-F238E27FC236}">
                <a16:creationId xmlns:a16="http://schemas.microsoft.com/office/drawing/2014/main" id="{93FEB875-4FC5-5617-5133-093F3C8B71EE}"/>
              </a:ext>
            </a:extLst>
          </p:cNvPr>
          <p:cNvSpPr txBox="1"/>
          <p:nvPr/>
        </p:nvSpPr>
        <p:spPr>
          <a:xfrm>
            <a:off x="882293" y="430554"/>
            <a:ext cx="9973775" cy="461665"/>
          </a:xfrm>
          <a:prstGeom prst="rect">
            <a:avLst/>
          </a:prstGeom>
          <a:noFill/>
        </p:spPr>
        <p:txBody>
          <a:bodyPr wrap="square" rtlCol="0">
            <a:spAutoFit/>
          </a:bodyPr>
          <a:lstStyle/>
          <a:p>
            <a:r>
              <a:rPr lang="pl-PL" sz="2400" b="1"/>
              <a:t>Graficzna reprezentacja dodawania punktu</a:t>
            </a:r>
          </a:p>
        </p:txBody>
      </p:sp>
    </p:spTree>
    <p:extLst>
      <p:ext uri="{BB962C8B-B14F-4D97-AF65-F5344CB8AC3E}">
        <p14:creationId xmlns:p14="http://schemas.microsoft.com/office/powerpoint/2010/main" val="2614169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4F2BF67-740E-12C5-46CB-E3485682E0E2}"/>
              </a:ext>
            </a:extLst>
          </p:cNvPr>
          <p:cNvSpPr>
            <a:spLocks noGrp="1"/>
          </p:cNvSpPr>
          <p:nvPr>
            <p:ph type="title"/>
          </p:nvPr>
        </p:nvSpPr>
        <p:spPr/>
        <p:txBody>
          <a:bodyPr/>
          <a:lstStyle/>
          <a:p>
            <a:r>
              <a:rPr lang="pl-PL"/>
              <a:t>2. Odzyskiwanie krawędzi</a:t>
            </a:r>
          </a:p>
        </p:txBody>
      </p:sp>
      <p:sp>
        <p:nvSpPr>
          <p:cNvPr id="3" name="Symbol zastępczy zawartości 2">
            <a:extLst>
              <a:ext uri="{FF2B5EF4-FFF2-40B4-BE49-F238E27FC236}">
                <a16:creationId xmlns:a16="http://schemas.microsoft.com/office/drawing/2014/main" id="{325315DA-0225-6E31-67C9-88D0E930BC77}"/>
              </a:ext>
            </a:extLst>
          </p:cNvPr>
          <p:cNvSpPr>
            <a:spLocks noGrp="1"/>
          </p:cNvSpPr>
          <p:nvPr>
            <p:ph idx="1"/>
          </p:nvPr>
        </p:nvSpPr>
        <p:spPr>
          <a:xfrm>
            <a:off x="838200" y="1825625"/>
            <a:ext cx="9084013" cy="3524588"/>
          </a:xfrm>
        </p:spPr>
        <p:txBody>
          <a:bodyPr>
            <a:normAutofit/>
          </a:bodyPr>
          <a:lstStyle/>
          <a:p>
            <a:r>
              <a:rPr lang="pl-PL" sz="2000"/>
              <a:t>Po pierwszym etapie otrzymujemy triangulację </a:t>
            </a:r>
            <a:r>
              <a:rPr lang="pl-PL" sz="2000" err="1"/>
              <a:t>Delaunay’a</a:t>
            </a:r>
            <a:r>
              <a:rPr lang="pl-PL" sz="2000"/>
              <a:t>, jednak nie uwzględnia ona boków wielokąta, którego triangulację chcieliśmy otrzymać. Zatem następnym etapem będzie modyfikacja triangulacji, aby była ona triangulacją wielokąta, a nie tylko triangulacją zbioru punktów.</a:t>
            </a:r>
          </a:p>
        </p:txBody>
      </p:sp>
      <p:pic>
        <p:nvPicPr>
          <p:cNvPr id="6" name="Obraz 5">
            <a:extLst>
              <a:ext uri="{FF2B5EF4-FFF2-40B4-BE49-F238E27FC236}">
                <a16:creationId xmlns:a16="http://schemas.microsoft.com/office/drawing/2014/main" id="{B15CDA51-F4F9-AFF1-F2A0-14769D86CFE2}"/>
              </a:ext>
            </a:extLst>
          </p:cNvPr>
          <p:cNvPicPr>
            <a:picLocks noChangeAspect="1"/>
          </p:cNvPicPr>
          <p:nvPr/>
        </p:nvPicPr>
        <p:blipFill>
          <a:blip r:embed="rId2"/>
          <a:stretch>
            <a:fillRect/>
          </a:stretch>
        </p:blipFill>
        <p:spPr>
          <a:xfrm>
            <a:off x="1126292" y="2960148"/>
            <a:ext cx="4710304" cy="3532727"/>
          </a:xfrm>
          <a:prstGeom prst="rect">
            <a:avLst/>
          </a:prstGeom>
        </p:spPr>
      </p:pic>
      <p:pic>
        <p:nvPicPr>
          <p:cNvPr id="8" name="Obraz 7">
            <a:extLst>
              <a:ext uri="{FF2B5EF4-FFF2-40B4-BE49-F238E27FC236}">
                <a16:creationId xmlns:a16="http://schemas.microsoft.com/office/drawing/2014/main" id="{559AD491-D21E-E5AC-5209-C27FF9F9ADCC}"/>
              </a:ext>
            </a:extLst>
          </p:cNvPr>
          <p:cNvPicPr>
            <a:picLocks noChangeAspect="1"/>
          </p:cNvPicPr>
          <p:nvPr/>
        </p:nvPicPr>
        <p:blipFill>
          <a:blip r:embed="rId3"/>
          <a:stretch>
            <a:fillRect/>
          </a:stretch>
        </p:blipFill>
        <p:spPr>
          <a:xfrm>
            <a:off x="5972784" y="2960147"/>
            <a:ext cx="4710304" cy="3532728"/>
          </a:xfrm>
          <a:prstGeom prst="rect">
            <a:avLst/>
          </a:prstGeom>
        </p:spPr>
      </p:pic>
    </p:spTree>
    <p:extLst>
      <p:ext uri="{BB962C8B-B14F-4D97-AF65-F5344CB8AC3E}">
        <p14:creationId xmlns:p14="http://schemas.microsoft.com/office/powerpoint/2010/main" val="2342931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29" name="Rectangle 28">
            <a:extLst>
              <a:ext uri="{FF2B5EF4-FFF2-40B4-BE49-F238E27FC236}">
                <a16:creationId xmlns:a16="http://schemas.microsoft.com/office/drawing/2014/main" id="{D7DCD0B9-88C8-4BC3-823A-3B58378A1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sp>
        <p:nvSpPr>
          <p:cNvPr id="31" name="Rectangle 30">
            <a:extLst>
              <a:ext uri="{FF2B5EF4-FFF2-40B4-BE49-F238E27FC236}">
                <a16:creationId xmlns:a16="http://schemas.microsoft.com/office/drawing/2014/main" id="{EC573421-E13D-4DC7-941E-D69004176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3785" y="1219200"/>
            <a:ext cx="7011420" cy="3886200"/>
          </a:xfrm>
          <a:prstGeom prst="rect">
            <a:avLst/>
          </a:prstGeom>
          <a:solidFill>
            <a:schemeClr val="bg1"/>
          </a:solidFill>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solidFill>
                <a:schemeClr val="tx1"/>
              </a:solidFill>
            </a:endParaRPr>
          </a:p>
        </p:txBody>
      </p:sp>
      <p:grpSp>
        <p:nvGrpSpPr>
          <p:cNvPr id="33" name="Group 32">
            <a:extLst>
              <a:ext uri="{FF2B5EF4-FFF2-40B4-BE49-F238E27FC236}">
                <a16:creationId xmlns:a16="http://schemas.microsoft.com/office/drawing/2014/main" id="{1881ABF8-7E92-45C1-A112-1EE08D4377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6698" y="883994"/>
            <a:ext cx="11578102" cy="5068387"/>
            <a:chOff x="207697" y="189413"/>
            <a:chExt cx="11578102" cy="5068387"/>
          </a:xfrm>
        </p:grpSpPr>
        <p:sp useBgFill="1">
          <p:nvSpPr>
            <p:cNvPr id="34" name="Graphic 10">
              <a:extLst>
                <a:ext uri="{FF2B5EF4-FFF2-40B4-BE49-F238E27FC236}">
                  <a16:creationId xmlns:a16="http://schemas.microsoft.com/office/drawing/2014/main" id="{C7AE767F-4FE7-4F41-88CC-39F79551C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5" name="Oval 34">
              <a:extLst>
                <a:ext uri="{FF2B5EF4-FFF2-40B4-BE49-F238E27FC236}">
                  <a16:creationId xmlns:a16="http://schemas.microsoft.com/office/drawing/2014/main" id="{804D656C-24B0-4DEE-B4FE-FDE6D0FEA9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091908" y="1414509"/>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6" name="Oval 35">
              <a:extLst>
                <a:ext uri="{FF2B5EF4-FFF2-40B4-BE49-F238E27FC236}">
                  <a16:creationId xmlns:a16="http://schemas.microsoft.com/office/drawing/2014/main" id="{E34E9770-911A-437D-9D23-344D51F50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95456" y="625555"/>
              <a:ext cx="388723" cy="3887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7" name="Oval 36">
              <a:extLst>
                <a:ext uri="{FF2B5EF4-FFF2-40B4-BE49-F238E27FC236}">
                  <a16:creationId xmlns:a16="http://schemas.microsoft.com/office/drawing/2014/main" id="{92D6B461-0AF2-4637-BBF4-3845230EB1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480999" y="4953000"/>
              <a:ext cx="304800" cy="30480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7A3DE96D-B00E-07A7-FCC9-1F406136072D}"/>
              </a:ext>
            </a:extLst>
          </p:cNvPr>
          <p:cNvSpPr>
            <a:spLocks noGrp="1"/>
          </p:cNvSpPr>
          <p:nvPr>
            <p:ph type="title"/>
          </p:nvPr>
        </p:nvSpPr>
        <p:spPr>
          <a:xfrm>
            <a:off x="457200" y="126927"/>
            <a:ext cx="4267201" cy="2775141"/>
          </a:xfrm>
        </p:spPr>
        <p:txBody>
          <a:bodyPr anchor="b">
            <a:normAutofit/>
          </a:bodyPr>
          <a:lstStyle/>
          <a:p>
            <a:r>
              <a:rPr lang="pl-PL"/>
              <a:t>Wykrywanie przecięć</a:t>
            </a:r>
          </a:p>
        </p:txBody>
      </p:sp>
      <p:sp>
        <p:nvSpPr>
          <p:cNvPr id="3" name="Symbol zastępczy zawartości 2">
            <a:extLst>
              <a:ext uri="{FF2B5EF4-FFF2-40B4-BE49-F238E27FC236}">
                <a16:creationId xmlns:a16="http://schemas.microsoft.com/office/drawing/2014/main" id="{C6E2EE8D-0C53-8EBF-A2C0-4C6F7A88B9A8}"/>
              </a:ext>
            </a:extLst>
          </p:cNvPr>
          <p:cNvSpPr>
            <a:spLocks noGrp="1"/>
          </p:cNvSpPr>
          <p:nvPr>
            <p:ph idx="1"/>
          </p:nvPr>
        </p:nvSpPr>
        <p:spPr>
          <a:xfrm>
            <a:off x="457200" y="3103473"/>
            <a:ext cx="4267194" cy="3197332"/>
          </a:xfrm>
        </p:spPr>
        <p:txBody>
          <a:bodyPr anchor="t">
            <a:normAutofit/>
          </a:bodyPr>
          <a:lstStyle/>
          <a:p>
            <a:r>
              <a:rPr lang="pl-PL" sz="1300"/>
              <a:t>Aby uzyskać triangulację wielokąta, iterujemy po każdej jego krawędzi i sprawdzamy, czy jest ona zawarta w powstałej triangulacji, jeśli nie, wyszukujemy krawędzie triangulacji, które ją przecinają i zastępujemy je.</a:t>
            </a:r>
          </a:p>
          <a:p>
            <a:r>
              <a:rPr lang="pl-PL" sz="1300"/>
              <a:t>Samo wykrywanie przecięć realizowane jest również za pomocą funkcji orient() zwracającej liczbę dodatnia, jeśli punkt znajduje się po lewej stronie </a:t>
            </a:r>
            <a:r>
              <a:rPr lang="pl-PL" sz="1300" err="1"/>
              <a:t>półkrawędzi</a:t>
            </a:r>
            <a:r>
              <a:rPr lang="pl-PL" sz="1300"/>
              <a:t>, a ujemną jeśli po prawej. Zatem warunkiem koniecznym, aby dwie krawędzie się przecinały jest ujemny iloczyn wyników </a:t>
            </a:r>
            <a:r>
              <a:rPr lang="pl-PL" sz="1300" err="1"/>
              <a:t>wywołań</a:t>
            </a:r>
            <a:r>
              <a:rPr lang="pl-PL" sz="1300"/>
              <a:t> orient dla danej </a:t>
            </a:r>
            <a:r>
              <a:rPr lang="pl-PL" sz="1300" err="1"/>
              <a:t>półkrawędzi</a:t>
            </a:r>
            <a:r>
              <a:rPr lang="pl-PL" sz="1300"/>
              <a:t>, mianowicie dla punkt C i D względem </a:t>
            </a:r>
            <a:r>
              <a:rPr lang="pl-PL" sz="1300" err="1"/>
              <a:t>półkrawędzi</a:t>
            </a:r>
            <a:r>
              <a:rPr lang="pl-PL" sz="1300"/>
              <a:t> AB oraz A i B względem CD.</a:t>
            </a:r>
          </a:p>
        </p:txBody>
      </p:sp>
      <p:pic>
        <p:nvPicPr>
          <p:cNvPr id="9" name="Obraz 8">
            <a:extLst>
              <a:ext uri="{FF2B5EF4-FFF2-40B4-BE49-F238E27FC236}">
                <a16:creationId xmlns:a16="http://schemas.microsoft.com/office/drawing/2014/main" id="{27414670-A372-6AA8-6A5B-A8FD4BF71D3D}"/>
              </a:ext>
            </a:extLst>
          </p:cNvPr>
          <p:cNvPicPr>
            <a:picLocks noChangeAspect="1"/>
          </p:cNvPicPr>
          <p:nvPr/>
        </p:nvPicPr>
        <p:blipFill>
          <a:blip r:embed="rId2"/>
          <a:stretch>
            <a:fillRect/>
          </a:stretch>
        </p:blipFill>
        <p:spPr>
          <a:xfrm>
            <a:off x="5366432" y="1812265"/>
            <a:ext cx="2883353" cy="2724769"/>
          </a:xfrm>
          <a:prstGeom prst="rect">
            <a:avLst/>
          </a:prstGeom>
        </p:spPr>
      </p:pic>
      <p:pic>
        <p:nvPicPr>
          <p:cNvPr id="11" name="Obraz 10">
            <a:extLst>
              <a:ext uri="{FF2B5EF4-FFF2-40B4-BE49-F238E27FC236}">
                <a16:creationId xmlns:a16="http://schemas.microsoft.com/office/drawing/2014/main" id="{33715BAF-6E34-AC94-524C-E78D1D7FEDF1}"/>
              </a:ext>
            </a:extLst>
          </p:cNvPr>
          <p:cNvPicPr>
            <a:picLocks noChangeAspect="1"/>
          </p:cNvPicPr>
          <p:nvPr/>
        </p:nvPicPr>
        <p:blipFill>
          <a:blip r:embed="rId3"/>
          <a:stretch>
            <a:fillRect/>
          </a:stretch>
        </p:blipFill>
        <p:spPr>
          <a:xfrm>
            <a:off x="8566832" y="1908064"/>
            <a:ext cx="2883353" cy="2530142"/>
          </a:xfrm>
          <a:prstGeom prst="rect">
            <a:avLst/>
          </a:prstGeom>
        </p:spPr>
      </p:pic>
    </p:spTree>
    <p:extLst>
      <p:ext uri="{BB962C8B-B14F-4D97-AF65-F5344CB8AC3E}">
        <p14:creationId xmlns:p14="http://schemas.microsoft.com/office/powerpoint/2010/main" val="3808097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2" name="Rectangle 11">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14" name="Group 13">
            <a:extLst>
              <a:ext uri="{FF2B5EF4-FFF2-40B4-BE49-F238E27FC236}">
                <a16:creationId xmlns:a16="http://schemas.microsoft.com/office/drawing/2014/main" id="{187DE861-9AC3-4AA5-B885-AF8EBE9480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34076" y="241085"/>
            <a:ext cx="1165681" cy="5612701"/>
            <a:chOff x="10734076" y="241085"/>
            <a:chExt cx="1165681" cy="5612701"/>
          </a:xfrm>
        </p:grpSpPr>
        <p:sp useBgFill="1">
          <p:nvSpPr>
            <p:cNvPr id="15" name="Graphic 10">
              <a:extLst>
                <a:ext uri="{FF2B5EF4-FFF2-40B4-BE49-F238E27FC236}">
                  <a16:creationId xmlns:a16="http://schemas.microsoft.com/office/drawing/2014/main" id="{D43C1A1E-DA50-4210-9A1D-5437CBFEF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891156" y="241085"/>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7691169A-6B21-4B1F-96DF-2BD6D6BA0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734076" y="1394142"/>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7" name="Oval 16">
              <a:extLst>
                <a:ext uri="{FF2B5EF4-FFF2-40B4-BE49-F238E27FC236}">
                  <a16:creationId xmlns:a16="http://schemas.microsoft.com/office/drawing/2014/main" id="{AFF485D7-DE5D-47EE-8B37-15E9B77B3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474676" y="5428705"/>
              <a:ext cx="425081" cy="42508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5D2B6FFA-E5F1-640E-CEEE-CDA67262FB5E}"/>
              </a:ext>
            </a:extLst>
          </p:cNvPr>
          <p:cNvSpPr>
            <a:spLocks noGrp="1"/>
          </p:cNvSpPr>
          <p:nvPr>
            <p:ph type="title"/>
          </p:nvPr>
        </p:nvSpPr>
        <p:spPr>
          <a:xfrm>
            <a:off x="457199" y="566490"/>
            <a:ext cx="11238347" cy="1502704"/>
          </a:xfrm>
        </p:spPr>
        <p:txBody>
          <a:bodyPr anchor="ctr">
            <a:normAutofit/>
          </a:bodyPr>
          <a:lstStyle/>
          <a:p>
            <a:r>
              <a:rPr lang="pl-PL"/>
              <a:t>3. Usuwanie trójkątów zewnętrznych</a:t>
            </a:r>
          </a:p>
        </p:txBody>
      </p:sp>
      <p:sp>
        <p:nvSpPr>
          <p:cNvPr id="3" name="Symbol zastępczy zawartości 2">
            <a:extLst>
              <a:ext uri="{FF2B5EF4-FFF2-40B4-BE49-F238E27FC236}">
                <a16:creationId xmlns:a16="http://schemas.microsoft.com/office/drawing/2014/main" id="{7100C057-9DF9-98CD-65A3-1F200F1BB281}"/>
              </a:ext>
            </a:extLst>
          </p:cNvPr>
          <p:cNvSpPr>
            <a:spLocks noGrp="1"/>
          </p:cNvSpPr>
          <p:nvPr>
            <p:ph idx="1"/>
          </p:nvPr>
        </p:nvSpPr>
        <p:spPr>
          <a:xfrm>
            <a:off x="457199" y="2286000"/>
            <a:ext cx="5470879" cy="4005510"/>
          </a:xfrm>
        </p:spPr>
        <p:txBody>
          <a:bodyPr anchor="t">
            <a:normAutofit/>
          </a:bodyPr>
          <a:lstStyle/>
          <a:p>
            <a:r>
              <a:rPr lang="pl-PL" sz="1800"/>
              <a:t> Wielokąt zadany jest przeciwnie do wskazówek zegara zatem biorąc </a:t>
            </a:r>
            <a:r>
              <a:rPr lang="pl-PL" sz="1800" err="1"/>
              <a:t>półkrawędź</a:t>
            </a:r>
            <a:r>
              <a:rPr lang="pl-PL" sz="1800"/>
              <a:t> z pierwszego do drugiego wierzchołka wiemy, że trójkąt, do której ona (ta </a:t>
            </a:r>
            <a:r>
              <a:rPr lang="pl-PL" sz="1800" err="1"/>
              <a:t>półkrawędź</a:t>
            </a:r>
            <a:r>
              <a:rPr lang="pl-PL" sz="1800"/>
              <a:t>) należy znajduje się wewnątrz wielokąta. Potem poruszając się po kolejnych sąsiadach rozpatrywanego trójkąta (możemy wejść do sąsiada pod warunkiem, że krawędź ich łącząca nie należy do wieloboku, bo wtedy wyszlibyśmy poza wielobok) oznaczamy trójkąty jako „odwiedzone”. Pozostałe trójkąty usuwamy, w ten sposób otrzymujemy ostateczną triangulacje </a:t>
            </a:r>
            <a:r>
              <a:rPr lang="pl-PL" sz="1800" err="1"/>
              <a:t>Delaunay’a</a:t>
            </a:r>
            <a:r>
              <a:rPr lang="pl-PL" sz="1800"/>
              <a:t>. Na rysunku wszystkie trójkąty poza oznaczonymi na zielono należącymi do wieloboku są do usunięcia</a:t>
            </a:r>
          </a:p>
          <a:p>
            <a:endParaRPr lang="pl-PL" sz="1800"/>
          </a:p>
        </p:txBody>
      </p:sp>
      <p:pic>
        <p:nvPicPr>
          <p:cNvPr id="5" name="Obraz 4">
            <a:extLst>
              <a:ext uri="{FF2B5EF4-FFF2-40B4-BE49-F238E27FC236}">
                <a16:creationId xmlns:a16="http://schemas.microsoft.com/office/drawing/2014/main" id="{9F5E98B6-E415-6D07-7AC6-9FE4B85EC43D}"/>
              </a:ext>
            </a:extLst>
          </p:cNvPr>
          <p:cNvPicPr>
            <a:picLocks noChangeAspect="1"/>
          </p:cNvPicPr>
          <p:nvPr/>
        </p:nvPicPr>
        <p:blipFill>
          <a:blip r:embed="rId2"/>
          <a:stretch>
            <a:fillRect/>
          </a:stretch>
        </p:blipFill>
        <p:spPr>
          <a:xfrm>
            <a:off x="6263924" y="2069194"/>
            <a:ext cx="5366909" cy="4038600"/>
          </a:xfrm>
          <a:prstGeom prst="rect">
            <a:avLst/>
          </a:prstGeom>
        </p:spPr>
      </p:pic>
    </p:spTree>
    <p:extLst>
      <p:ext uri="{BB962C8B-B14F-4D97-AF65-F5344CB8AC3E}">
        <p14:creationId xmlns:p14="http://schemas.microsoft.com/office/powerpoint/2010/main" val="3615070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63317B1-7785-0C95-026D-F503362D66DF}"/>
              </a:ext>
            </a:extLst>
          </p:cNvPr>
          <p:cNvSpPr>
            <a:spLocks noGrp="1"/>
          </p:cNvSpPr>
          <p:nvPr>
            <p:ph type="title"/>
          </p:nvPr>
        </p:nvSpPr>
        <p:spPr/>
        <p:txBody>
          <a:bodyPr/>
          <a:lstStyle/>
          <a:p>
            <a:pPr algn="ctr"/>
            <a:r>
              <a:rPr lang="pl-PL"/>
              <a:t>Wizualizacja poszukiwania trójkątów wewnątrz przykładowego wieloboku</a:t>
            </a:r>
          </a:p>
        </p:txBody>
      </p:sp>
      <p:pic>
        <p:nvPicPr>
          <p:cNvPr id="9" name="Symbol zastępczy zawartości 8" descr="Obraz zawierający tekst, zrzut ekranu, Prostokąt, diagram&#10;&#10;Opis wygenerowany automatycznie">
            <a:extLst>
              <a:ext uri="{FF2B5EF4-FFF2-40B4-BE49-F238E27FC236}">
                <a16:creationId xmlns:a16="http://schemas.microsoft.com/office/drawing/2014/main" id="{10C76EA1-2C96-72F2-EC39-0AA3DF490B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3648858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sp>
        <p:nvSpPr>
          <p:cNvPr id="12" name="Rectangle 11">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a:solidFill>
                <a:schemeClr val="tx1"/>
              </a:solidFill>
            </a:endParaRPr>
          </a:p>
        </p:txBody>
      </p:sp>
      <p:grpSp>
        <p:nvGrpSpPr>
          <p:cNvPr id="14" name="Group 13">
            <a:extLst>
              <a:ext uri="{FF2B5EF4-FFF2-40B4-BE49-F238E27FC236}">
                <a16:creationId xmlns:a16="http://schemas.microsoft.com/office/drawing/2014/main" id="{187DE861-9AC3-4AA5-B885-AF8EBE9480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34076" y="241085"/>
            <a:ext cx="1165681" cy="5612701"/>
            <a:chOff x="10734076" y="241085"/>
            <a:chExt cx="1165681" cy="5612701"/>
          </a:xfrm>
        </p:grpSpPr>
        <p:sp useBgFill="1">
          <p:nvSpPr>
            <p:cNvPr id="15" name="Graphic 10">
              <a:extLst>
                <a:ext uri="{FF2B5EF4-FFF2-40B4-BE49-F238E27FC236}">
                  <a16:creationId xmlns:a16="http://schemas.microsoft.com/office/drawing/2014/main" id="{D43C1A1E-DA50-4210-9A1D-5437CBFEF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891156" y="241085"/>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7691169A-6B21-4B1F-96DF-2BD6D6BA0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0734076" y="1394142"/>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7" name="Oval 16">
              <a:extLst>
                <a:ext uri="{FF2B5EF4-FFF2-40B4-BE49-F238E27FC236}">
                  <a16:creationId xmlns:a16="http://schemas.microsoft.com/office/drawing/2014/main" id="{AFF485D7-DE5D-47EE-8B37-15E9B77B3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474676" y="5428705"/>
              <a:ext cx="425081" cy="42508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E75741C4-52EB-3C83-0FFD-9BBD62C73E23}"/>
              </a:ext>
            </a:extLst>
          </p:cNvPr>
          <p:cNvSpPr>
            <a:spLocks noGrp="1"/>
          </p:cNvSpPr>
          <p:nvPr>
            <p:ph type="title"/>
          </p:nvPr>
        </p:nvSpPr>
        <p:spPr>
          <a:xfrm>
            <a:off x="457199" y="566490"/>
            <a:ext cx="11238347" cy="1502704"/>
          </a:xfrm>
        </p:spPr>
        <p:txBody>
          <a:bodyPr anchor="ctr">
            <a:normAutofit/>
          </a:bodyPr>
          <a:lstStyle/>
          <a:p>
            <a:r>
              <a:rPr lang="pl-PL"/>
              <a:t>Usuwanie nieodwiedzonych trójkątów</a:t>
            </a:r>
          </a:p>
        </p:txBody>
      </p:sp>
      <p:sp>
        <p:nvSpPr>
          <p:cNvPr id="3" name="Symbol zastępczy zawartości 2">
            <a:extLst>
              <a:ext uri="{FF2B5EF4-FFF2-40B4-BE49-F238E27FC236}">
                <a16:creationId xmlns:a16="http://schemas.microsoft.com/office/drawing/2014/main" id="{72372724-62D4-0E80-1F9D-0DFB36A32AFF}"/>
              </a:ext>
            </a:extLst>
          </p:cNvPr>
          <p:cNvSpPr>
            <a:spLocks noGrp="1"/>
          </p:cNvSpPr>
          <p:nvPr>
            <p:ph idx="1"/>
          </p:nvPr>
        </p:nvSpPr>
        <p:spPr>
          <a:xfrm>
            <a:off x="457199" y="2286000"/>
            <a:ext cx="5470879" cy="4005510"/>
          </a:xfrm>
        </p:spPr>
        <p:txBody>
          <a:bodyPr anchor="t">
            <a:normAutofit/>
          </a:bodyPr>
          <a:lstStyle/>
          <a:p>
            <a:r>
              <a:rPr lang="pl-PL" sz="1800"/>
              <a:t>Ostatnim etapem triangulacji </a:t>
            </a:r>
            <a:r>
              <a:rPr lang="pl-PL" sz="1800" err="1"/>
              <a:t>Delaunay’a</a:t>
            </a:r>
            <a:r>
              <a:rPr lang="pl-PL" sz="1800"/>
              <a:t> wieloboku jest usunięcie trójkątów triangulacji, nie zawierających się w wieloboku. Odbywa się to iterując po trójkątach triangulacji, jeśli dany nie został odwiedzony to usuwany jest z ostatecznej triangulacji.</a:t>
            </a:r>
          </a:p>
          <a:p>
            <a:r>
              <a:rPr lang="pl-PL" sz="1800"/>
              <a:t> Ostateczna postać triangulacji dla przykładu z poprzedniego slajdu znajduje się obok.</a:t>
            </a:r>
          </a:p>
        </p:txBody>
      </p:sp>
      <p:pic>
        <p:nvPicPr>
          <p:cNvPr id="5" name="Obraz 4">
            <a:extLst>
              <a:ext uri="{FF2B5EF4-FFF2-40B4-BE49-F238E27FC236}">
                <a16:creationId xmlns:a16="http://schemas.microsoft.com/office/drawing/2014/main" id="{84D6863C-994C-0DCB-A171-42721B55EDC0}"/>
              </a:ext>
            </a:extLst>
          </p:cNvPr>
          <p:cNvPicPr>
            <a:picLocks noChangeAspect="1"/>
          </p:cNvPicPr>
          <p:nvPr/>
        </p:nvPicPr>
        <p:blipFill>
          <a:blip r:embed="rId2"/>
          <a:stretch>
            <a:fillRect/>
          </a:stretch>
        </p:blipFill>
        <p:spPr>
          <a:xfrm>
            <a:off x="6232270" y="2286000"/>
            <a:ext cx="5384800" cy="4038600"/>
          </a:xfrm>
          <a:prstGeom prst="rect">
            <a:avLst/>
          </a:prstGeom>
        </p:spPr>
      </p:pic>
    </p:spTree>
    <p:extLst>
      <p:ext uri="{BB962C8B-B14F-4D97-AF65-F5344CB8AC3E}">
        <p14:creationId xmlns:p14="http://schemas.microsoft.com/office/powerpoint/2010/main" val="598345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27"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8"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9"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30" name="Oval 29">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1" name="Oval 30">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2" name="Oval 31">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grpSp>
      <p:sp useBgFill="1">
        <p:nvSpPr>
          <p:cNvPr id="51" name="Rectangle 50">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52" name="Rectangle 51">
            <a:extLst>
              <a:ext uri="{FF2B5EF4-FFF2-40B4-BE49-F238E27FC236}">
                <a16:creationId xmlns:a16="http://schemas.microsoft.com/office/drawing/2014/main" id="{361EA5BB-A258-4E22-94F4-C79A44136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grpSp>
        <p:nvGrpSpPr>
          <p:cNvPr id="53" name="Group 52">
            <a:extLst>
              <a:ext uri="{FF2B5EF4-FFF2-40B4-BE49-F238E27FC236}">
                <a16:creationId xmlns:a16="http://schemas.microsoft.com/office/drawing/2014/main" id="{AF7B2BB7-8E22-4794-9BDE-B71129D776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7697" y="189413"/>
            <a:ext cx="2019905" cy="1778845"/>
            <a:chOff x="207697" y="189413"/>
            <a:chExt cx="2019905" cy="1778845"/>
          </a:xfrm>
        </p:grpSpPr>
        <p:sp useBgFill="1">
          <p:nvSpPr>
            <p:cNvPr id="39" name="Graphic 10">
              <a:extLst>
                <a:ext uri="{FF2B5EF4-FFF2-40B4-BE49-F238E27FC236}">
                  <a16:creationId xmlns:a16="http://schemas.microsoft.com/office/drawing/2014/main" id="{F2CC297A-905C-42B8-BFEC-55FB2FCF2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207697" y="189413"/>
              <a:ext cx="1261009" cy="126100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40" name="Oval 39">
              <a:extLst>
                <a:ext uri="{FF2B5EF4-FFF2-40B4-BE49-F238E27FC236}">
                  <a16:creationId xmlns:a16="http://schemas.microsoft.com/office/drawing/2014/main" id="{895FAF0E-8EDF-4055-9578-394F1ACB3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89661" y="1671181"/>
              <a:ext cx="297077" cy="297077"/>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41" name="Oval 40">
              <a:extLst>
                <a:ext uri="{FF2B5EF4-FFF2-40B4-BE49-F238E27FC236}">
                  <a16:creationId xmlns:a16="http://schemas.microsoft.com/office/drawing/2014/main" id="{AEC4BAA7-1F27-4F25-9D16-9099BF9AC7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2017290" y="592943"/>
              <a:ext cx="210312" cy="210312"/>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 name="Tytuł 1">
            <a:extLst>
              <a:ext uri="{FF2B5EF4-FFF2-40B4-BE49-F238E27FC236}">
                <a16:creationId xmlns:a16="http://schemas.microsoft.com/office/drawing/2014/main" id="{FBA61C3E-5473-C6CE-741F-FD8306FF6373}"/>
              </a:ext>
            </a:extLst>
          </p:cNvPr>
          <p:cNvSpPr>
            <a:spLocks noGrp="1"/>
          </p:cNvSpPr>
          <p:nvPr>
            <p:ph type="title"/>
          </p:nvPr>
        </p:nvSpPr>
        <p:spPr>
          <a:xfrm>
            <a:off x="500012" y="2454188"/>
            <a:ext cx="2194305" cy="2364765"/>
          </a:xfrm>
        </p:spPr>
        <p:txBody>
          <a:bodyPr vert="horz" lIns="91440" tIns="45720" rIns="91440" bIns="45720" rtlCol="0" anchor="b">
            <a:normAutofit/>
          </a:bodyPr>
          <a:lstStyle/>
          <a:p>
            <a:r>
              <a:rPr lang="en-US" sz="5400" kern="1200">
                <a:solidFill>
                  <a:schemeClr val="tx1"/>
                </a:solidFill>
                <a:latin typeface="+mj-lt"/>
                <a:ea typeface="+mj-ea"/>
                <a:cs typeface="+mj-cs"/>
              </a:rPr>
              <a:t>Testy</a:t>
            </a:r>
            <a:br>
              <a:rPr lang="en-US" sz="5400" kern="1200">
                <a:solidFill>
                  <a:schemeClr val="tx1"/>
                </a:solidFill>
                <a:latin typeface="+mj-lt"/>
                <a:ea typeface="+mj-ea"/>
                <a:cs typeface="+mj-cs"/>
              </a:rPr>
            </a:br>
            <a:endParaRPr lang="en-US" sz="5400" kern="1200">
              <a:solidFill>
                <a:schemeClr val="tx1"/>
              </a:solidFill>
              <a:latin typeface="+mj-lt"/>
              <a:ea typeface="+mj-ea"/>
              <a:cs typeface="+mj-cs"/>
            </a:endParaRPr>
          </a:p>
        </p:txBody>
      </p:sp>
      <p:pic>
        <p:nvPicPr>
          <p:cNvPr id="4" name="Content Placeholder 3" descr="A graph with numbers and lines&#10;&#10;Description automatically generated">
            <a:extLst>
              <a:ext uri="{FF2B5EF4-FFF2-40B4-BE49-F238E27FC236}">
                <a16:creationId xmlns:a16="http://schemas.microsoft.com/office/drawing/2014/main" id="{2355D1C6-8E66-54A8-713A-C7CC4351FBA8}"/>
              </a:ext>
            </a:extLst>
          </p:cNvPr>
          <p:cNvPicPr>
            <a:picLocks noGrp="1" noChangeAspect="1"/>
          </p:cNvPicPr>
          <p:nvPr>
            <p:ph idx="1"/>
          </p:nvPr>
        </p:nvPicPr>
        <p:blipFill>
          <a:blip r:embed="rId2"/>
          <a:stretch>
            <a:fillRect/>
          </a:stretch>
        </p:blipFill>
        <p:spPr>
          <a:xfrm>
            <a:off x="3055189" y="536394"/>
            <a:ext cx="8601373" cy="5899124"/>
          </a:xfrm>
          <a:prstGeom prst="rect">
            <a:avLst/>
          </a:prstGeom>
        </p:spPr>
      </p:pic>
      <p:sp useBgFill="1">
        <p:nvSpPr>
          <p:cNvPr id="54" name="Oval 53">
            <a:extLst>
              <a:ext uri="{FF2B5EF4-FFF2-40B4-BE49-F238E27FC236}">
                <a16:creationId xmlns:a16="http://schemas.microsoft.com/office/drawing/2014/main" id="{8333FD0A-502E-4A24-8E99-5496F09DC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70962" y="5630260"/>
            <a:ext cx="355414" cy="35541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Tree>
    <p:extLst>
      <p:ext uri="{BB962C8B-B14F-4D97-AF65-F5344CB8AC3E}">
        <p14:creationId xmlns:p14="http://schemas.microsoft.com/office/powerpoint/2010/main" val="2692313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5990" y="62886"/>
            <a:ext cx="11708355" cy="6301715"/>
            <a:chOff x="175990" y="62886"/>
            <a:chExt cx="11708355" cy="6301715"/>
          </a:xfrm>
        </p:grpSpPr>
        <p:sp useBgFill="1">
          <p:nvSpPr>
            <p:cNvPr id="24" name="Graphic 10">
              <a:extLst>
                <a:ext uri="{FF2B5EF4-FFF2-40B4-BE49-F238E27FC236}">
                  <a16:creationId xmlns:a16="http://schemas.microsoft.com/office/drawing/2014/main" id="{EAFF5F08-677C-4873-9274-02B6FE751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1" name="Graphic 10">
              <a:extLst>
                <a:ext uri="{FF2B5EF4-FFF2-40B4-BE49-F238E27FC236}">
                  <a16:creationId xmlns:a16="http://schemas.microsoft.com/office/drawing/2014/main" id="{16514C65-F179-4953-B660-5FC657697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6" name="Graphic 10">
              <a:extLst>
                <a:ext uri="{FF2B5EF4-FFF2-40B4-BE49-F238E27FC236}">
                  <a16:creationId xmlns:a16="http://schemas.microsoft.com/office/drawing/2014/main" id="{DF5DA89C-9FED-4AE0-8C36-20612E77F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3" name="Oval 12">
              <a:extLst>
                <a:ext uri="{FF2B5EF4-FFF2-40B4-BE49-F238E27FC236}">
                  <a16:creationId xmlns:a16="http://schemas.microsoft.com/office/drawing/2014/main" id="{FB98224C-F1DB-4F10-9B7F-93B86BA13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7" name="Oval 13">
              <a:extLst>
                <a:ext uri="{FF2B5EF4-FFF2-40B4-BE49-F238E27FC236}">
                  <a16:creationId xmlns:a16="http://schemas.microsoft.com/office/drawing/2014/main" id="{9AE1FC9E-06C9-4A12-8BE7-766C3DA8B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8" name="Oval 14">
              <a:extLst>
                <a:ext uri="{FF2B5EF4-FFF2-40B4-BE49-F238E27FC236}">
                  <a16:creationId xmlns:a16="http://schemas.microsoft.com/office/drawing/2014/main" id="{29954B75-D8C7-439C-A014-E644E3E2C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useBgFill="1">
        <p:nvSpPr>
          <p:cNvPr id="29" name="Rectangle 16">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a:solidFill>
                <a:schemeClr val="tx1"/>
              </a:solidFill>
            </a:endParaRPr>
          </a:p>
        </p:txBody>
      </p:sp>
      <p:pic>
        <p:nvPicPr>
          <p:cNvPr id="5" name="Picture 4" descr="Wykrzyknik na żółtym tle">
            <a:extLst>
              <a:ext uri="{FF2B5EF4-FFF2-40B4-BE49-F238E27FC236}">
                <a16:creationId xmlns:a16="http://schemas.microsoft.com/office/drawing/2014/main" id="{4644B6BA-EA9C-0A72-D31A-5D93E59D5869}"/>
              </a:ext>
            </a:extLst>
          </p:cNvPr>
          <p:cNvPicPr>
            <a:picLocks noChangeAspect="1"/>
          </p:cNvPicPr>
          <p:nvPr/>
        </p:nvPicPr>
        <p:blipFill rotWithShape="1">
          <a:blip r:embed="rId2"/>
          <a:srcRect t="25000"/>
          <a:stretch/>
        </p:blipFill>
        <p:spPr>
          <a:xfrm>
            <a:off x="20" y="10"/>
            <a:ext cx="12191980" cy="6857989"/>
          </a:xfrm>
          <a:prstGeom prst="rect">
            <a:avLst/>
          </a:prstGeom>
        </p:spPr>
      </p:pic>
      <p:grpSp>
        <p:nvGrpSpPr>
          <p:cNvPr id="30" name="Group 18">
            <a:extLst>
              <a:ext uri="{FF2B5EF4-FFF2-40B4-BE49-F238E27FC236}">
                <a16:creationId xmlns:a16="http://schemas.microsoft.com/office/drawing/2014/main" id="{E2F6F869-F143-4607-BEE5-AA6FEB71E1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29" y="254882"/>
            <a:ext cx="2063695" cy="2594445"/>
            <a:chOff x="438029" y="254882"/>
            <a:chExt cx="2063695" cy="2594445"/>
          </a:xfrm>
        </p:grpSpPr>
        <p:sp useBgFill="1">
          <p:nvSpPr>
            <p:cNvPr id="31" name="Graphic 10">
              <a:extLst>
                <a:ext uri="{FF2B5EF4-FFF2-40B4-BE49-F238E27FC236}">
                  <a16:creationId xmlns:a16="http://schemas.microsoft.com/office/drawing/2014/main" id="{C75470B2-BBA7-4280-A6F6-FAE9E9F1C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559425" y="995030"/>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32" name="Oval 20">
              <a:extLst>
                <a:ext uri="{FF2B5EF4-FFF2-40B4-BE49-F238E27FC236}">
                  <a16:creationId xmlns:a16="http://schemas.microsoft.com/office/drawing/2014/main" id="{9A54C6CC-DDAA-4A39-ADF6-3C8475C5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286000" y="1378534"/>
              <a:ext cx="215724" cy="21572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2" name="Oval 21">
              <a:extLst>
                <a:ext uri="{FF2B5EF4-FFF2-40B4-BE49-F238E27FC236}">
                  <a16:creationId xmlns:a16="http://schemas.microsoft.com/office/drawing/2014/main" id="{714358CC-CF77-4F38-89E2-D6A3ABD0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8029" y="254882"/>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0CB44DA0-4772-4F1E-982F-12BAC7C58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38200" y="2514942"/>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25" name="Rectangle 24">
            <a:extLst>
              <a:ext uri="{FF2B5EF4-FFF2-40B4-BE49-F238E27FC236}">
                <a16:creationId xmlns:a16="http://schemas.microsoft.com/office/drawing/2014/main" id="{816D4481-06E0-406F-B2B0-A78607E35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accent2">
              <a:alpha val="40000"/>
            </a:schemeClr>
          </a:solidFill>
          <a:ln w="3848" cap="flat">
            <a:noFill/>
            <a:prstDash val="solid"/>
            <a:miter/>
          </a:ln>
          <a:effectLst/>
        </p:spPr>
        <p:txBody>
          <a:bodyPr rtlCol="0" anchor="ctr"/>
          <a:lstStyle/>
          <a:p>
            <a:endParaRPr lang="en-US">
              <a:solidFill>
                <a:schemeClr val="tx1"/>
              </a:solidFill>
            </a:endParaRPr>
          </a:p>
        </p:txBody>
      </p:sp>
      <p:sp>
        <p:nvSpPr>
          <p:cNvPr id="2" name="Tytuł 1">
            <a:extLst>
              <a:ext uri="{FF2B5EF4-FFF2-40B4-BE49-F238E27FC236}">
                <a16:creationId xmlns:a16="http://schemas.microsoft.com/office/drawing/2014/main" id="{62285FA7-9165-2337-1E09-F87CBEDB0C32}"/>
              </a:ext>
            </a:extLst>
          </p:cNvPr>
          <p:cNvSpPr>
            <a:spLocks noGrp="1"/>
          </p:cNvSpPr>
          <p:nvPr>
            <p:ph type="title"/>
          </p:nvPr>
        </p:nvSpPr>
        <p:spPr>
          <a:xfrm>
            <a:off x="1524000" y="728905"/>
            <a:ext cx="9144000" cy="3184274"/>
          </a:xfrm>
        </p:spPr>
        <p:txBody>
          <a:bodyPr vert="horz" lIns="91440" tIns="45720" rIns="91440" bIns="45720" rtlCol="0" anchor="b">
            <a:normAutofit/>
          </a:bodyPr>
          <a:lstStyle/>
          <a:p>
            <a:pPr algn="ctr"/>
            <a:r>
              <a:rPr lang="en-US" sz="6000" kern="1200" err="1">
                <a:solidFill>
                  <a:srgbClr val="FFFFFF"/>
                </a:solidFill>
                <a:latin typeface="+mj-lt"/>
                <a:ea typeface="+mj-ea"/>
                <a:cs typeface="+mj-cs"/>
              </a:rPr>
              <a:t>Dziękujemy</a:t>
            </a:r>
            <a:r>
              <a:rPr lang="en-US" sz="6000" kern="1200">
                <a:solidFill>
                  <a:srgbClr val="FFFFFF"/>
                </a:solidFill>
                <a:latin typeface="+mj-lt"/>
                <a:ea typeface="+mj-ea"/>
                <a:cs typeface="+mj-cs"/>
              </a:rPr>
              <a:t> za </a:t>
            </a:r>
            <a:r>
              <a:rPr lang="en-US" sz="6000" kern="1200" err="1">
                <a:solidFill>
                  <a:srgbClr val="FFFFFF"/>
                </a:solidFill>
                <a:latin typeface="+mj-lt"/>
                <a:ea typeface="+mj-ea"/>
                <a:cs typeface="+mj-cs"/>
              </a:rPr>
              <a:t>uwagę</a:t>
            </a:r>
            <a:r>
              <a:rPr lang="en-US" sz="6000" kern="1200">
                <a:solidFill>
                  <a:srgbClr val="FFFFFF"/>
                </a:solidFill>
                <a:latin typeface="+mj-lt"/>
                <a:ea typeface="+mj-ea"/>
                <a:cs typeface="+mj-cs"/>
              </a:rPr>
              <a:t>!</a:t>
            </a:r>
          </a:p>
        </p:txBody>
      </p:sp>
      <p:sp>
        <p:nvSpPr>
          <p:cNvPr id="4" name="pole tekstowe 3">
            <a:extLst>
              <a:ext uri="{FF2B5EF4-FFF2-40B4-BE49-F238E27FC236}">
                <a16:creationId xmlns:a16="http://schemas.microsoft.com/office/drawing/2014/main" id="{8F75B27C-4528-696C-15DE-349BFCF7BCBB}"/>
              </a:ext>
            </a:extLst>
          </p:cNvPr>
          <p:cNvSpPr txBox="1"/>
          <p:nvPr/>
        </p:nvSpPr>
        <p:spPr>
          <a:xfrm>
            <a:off x="8751295" y="5310441"/>
            <a:ext cx="3271395" cy="923330"/>
          </a:xfrm>
          <a:prstGeom prst="rect">
            <a:avLst/>
          </a:prstGeom>
          <a:noFill/>
        </p:spPr>
        <p:txBody>
          <a:bodyPr wrap="square" rtlCol="0">
            <a:spAutoFit/>
          </a:bodyPr>
          <a:lstStyle/>
          <a:p>
            <a:r>
              <a:rPr lang="pl-PL">
                <a:solidFill>
                  <a:schemeClr val="bg1"/>
                </a:solidFill>
              </a:rPr>
              <a:t>Autorzy:</a:t>
            </a:r>
          </a:p>
          <a:p>
            <a:r>
              <a:rPr lang="pl-PL">
                <a:solidFill>
                  <a:schemeClr val="bg1"/>
                </a:solidFill>
              </a:rPr>
              <a:t>Robert </a:t>
            </a:r>
            <a:r>
              <a:rPr lang="pl-PL" err="1">
                <a:solidFill>
                  <a:schemeClr val="bg1"/>
                </a:solidFill>
              </a:rPr>
              <a:t>Mesek</a:t>
            </a:r>
            <a:endParaRPr lang="pl-PL">
              <a:solidFill>
                <a:schemeClr val="bg1"/>
              </a:solidFill>
            </a:endParaRPr>
          </a:p>
          <a:p>
            <a:r>
              <a:rPr lang="pl-PL">
                <a:solidFill>
                  <a:schemeClr val="bg1"/>
                </a:solidFill>
              </a:rPr>
              <a:t>Wojciech Kaźmierczak</a:t>
            </a:r>
          </a:p>
        </p:txBody>
      </p:sp>
      <p:sp>
        <p:nvSpPr>
          <p:cNvPr id="6" name="pole tekstowe 5">
            <a:extLst>
              <a:ext uri="{FF2B5EF4-FFF2-40B4-BE49-F238E27FC236}">
                <a16:creationId xmlns:a16="http://schemas.microsoft.com/office/drawing/2014/main" id="{E60AC509-F52E-57B2-5517-CB3F7D1EC0C7}"/>
              </a:ext>
            </a:extLst>
          </p:cNvPr>
          <p:cNvSpPr txBox="1"/>
          <p:nvPr/>
        </p:nvSpPr>
        <p:spPr>
          <a:xfrm>
            <a:off x="386546" y="5120676"/>
            <a:ext cx="6100353" cy="1446550"/>
          </a:xfrm>
          <a:prstGeom prst="rect">
            <a:avLst/>
          </a:prstGeom>
          <a:noFill/>
        </p:spPr>
        <p:txBody>
          <a:bodyPr wrap="square" lIns="91440" tIns="45720" rIns="91440" bIns="45720" rtlCol="0" anchor="t">
            <a:spAutoFit/>
          </a:bodyPr>
          <a:lstStyle/>
          <a:p>
            <a:r>
              <a:rPr lang="pl-PL" sz="1100" dirty="0">
                <a:solidFill>
                  <a:schemeClr val="bg1"/>
                </a:solidFill>
              </a:rPr>
              <a:t>Źródła:</a:t>
            </a:r>
          </a:p>
          <a:p>
            <a:pPr marL="285750" indent="-285750">
              <a:buFont typeface="Arial" panose="020B0604020202020204" pitchFamily="34" charset="0"/>
              <a:buChar char="•"/>
            </a:pPr>
            <a:r>
              <a:rPr lang="pl-PL" sz="1100" dirty="0">
                <a:solidFill>
                  <a:schemeClr val="bg1"/>
                </a:solidFill>
              </a:rPr>
              <a:t>Wykłady z Algorytmów Geometrycznych dr inż. Barbary </a:t>
            </a:r>
            <a:r>
              <a:rPr lang="pl-PL" sz="1100" dirty="0" err="1">
                <a:solidFill>
                  <a:schemeClr val="bg1"/>
                </a:solidFill>
              </a:rPr>
              <a:t>Głut</a:t>
            </a:r>
            <a:endParaRPr lang="pl-PL" sz="1100" dirty="0">
              <a:solidFill>
                <a:schemeClr val="bg1"/>
              </a:solidFill>
            </a:endParaRPr>
          </a:p>
          <a:p>
            <a:pPr marL="285750" indent="-285750">
              <a:buFont typeface="Arial" panose="020B0604020202020204" pitchFamily="34" charset="0"/>
              <a:buChar char="•"/>
            </a:pPr>
            <a:r>
              <a:rPr lang="pl-PL" sz="1100" dirty="0">
                <a:solidFill>
                  <a:schemeClr val="bg1"/>
                </a:solidFill>
                <a:latin typeface="Open sans"/>
                <a:ea typeface="Open sans"/>
                <a:cs typeface="Open sans"/>
              </a:rPr>
              <a:t>"Geometria obliczeniowa. Algorytmy i zastosowania"</a:t>
            </a:r>
            <a:br>
              <a:rPr lang="pl-PL" sz="1100" dirty="0">
                <a:solidFill>
                  <a:schemeClr val="bg1"/>
                </a:solidFill>
                <a:latin typeface="Open sans"/>
                <a:ea typeface="Open sans"/>
                <a:cs typeface="Open sans"/>
              </a:rPr>
            </a:br>
            <a:r>
              <a:rPr lang="pl-PL" sz="1100" dirty="0">
                <a:solidFill>
                  <a:schemeClr val="bg1"/>
                </a:solidFill>
                <a:latin typeface="Open sans"/>
                <a:ea typeface="Open sans"/>
                <a:cs typeface="Open sans"/>
              </a:rPr>
              <a:t>M. Berg M. </a:t>
            </a:r>
            <a:r>
              <a:rPr lang="pl-PL" sz="1100" dirty="0" err="1">
                <a:solidFill>
                  <a:schemeClr val="bg1"/>
                </a:solidFill>
                <a:latin typeface="Open sans"/>
                <a:ea typeface="Open sans"/>
                <a:cs typeface="Open sans"/>
              </a:rPr>
              <a:t>Kreveld</a:t>
            </a:r>
            <a:r>
              <a:rPr lang="pl-PL" sz="1100" dirty="0">
                <a:solidFill>
                  <a:schemeClr val="bg1"/>
                </a:solidFill>
                <a:latin typeface="Open sans"/>
                <a:ea typeface="Open sans"/>
                <a:cs typeface="Open sans"/>
              </a:rPr>
              <a:t> M. </a:t>
            </a:r>
            <a:r>
              <a:rPr lang="pl-PL" sz="1100" dirty="0" err="1">
                <a:solidFill>
                  <a:schemeClr val="bg1"/>
                </a:solidFill>
                <a:latin typeface="Open sans"/>
                <a:ea typeface="Open sans"/>
                <a:cs typeface="Open sans"/>
              </a:rPr>
              <a:t>Overmars</a:t>
            </a:r>
            <a:r>
              <a:rPr lang="pl-PL" sz="1100" dirty="0">
                <a:solidFill>
                  <a:schemeClr val="bg1"/>
                </a:solidFill>
                <a:latin typeface="Open sans"/>
                <a:ea typeface="Open sans"/>
                <a:cs typeface="Open sans"/>
              </a:rPr>
              <a:t> | WNT Warszawa 2007 | </a:t>
            </a:r>
            <a:r>
              <a:rPr lang="pl-PL" sz="1100" dirty="0">
                <a:solidFill>
                  <a:schemeClr val="bg1"/>
                </a:solidFill>
                <a:ea typeface="+mn-lt"/>
                <a:cs typeface="+mn-lt"/>
              </a:rPr>
              <a:t>ISBN: 9788320432442</a:t>
            </a:r>
            <a:endParaRPr lang="pl-PL" dirty="0">
              <a:solidFill>
                <a:schemeClr val="bg1"/>
              </a:solidFill>
              <a:ea typeface="Open sans"/>
              <a:cs typeface="Open sans"/>
            </a:endParaRPr>
          </a:p>
          <a:p>
            <a:pPr marL="285750" indent="-285750">
              <a:buFont typeface="Arial" panose="020B0604020202020204" pitchFamily="34" charset="0"/>
              <a:buChar char="•"/>
            </a:pPr>
            <a:r>
              <a:rPr lang="pl-PL" sz="1100" dirty="0">
                <a:solidFill>
                  <a:schemeClr val="bg1"/>
                </a:solidFill>
              </a:rPr>
              <a:t>Wikipedia</a:t>
            </a:r>
            <a:endParaRPr lang="pl-PL" sz="1100" dirty="0">
              <a:solidFill>
                <a:schemeClr val="bg1"/>
              </a:solidFill>
              <a:ea typeface="Open sans"/>
              <a:cs typeface="Open sans"/>
            </a:endParaRPr>
          </a:p>
          <a:p>
            <a:pPr marL="285750" indent="-285750">
              <a:buFont typeface="Arial" panose="020B0604020202020204" pitchFamily="34" charset="0"/>
              <a:buChar char="•"/>
            </a:pPr>
            <a:r>
              <a:rPr lang="pl-PL" sz="1100" dirty="0">
                <a:solidFill>
                  <a:schemeClr val="bg1"/>
                </a:solidFill>
                <a:hlinkClick r:id="rId3">
                  <a:extLst>
                    <a:ext uri="{A12FA001-AC4F-418D-AE19-62706E023703}">
                      <ahyp:hlinkClr xmlns:ahyp="http://schemas.microsoft.com/office/drawing/2018/hyperlinkcolor" val="tx"/>
                    </a:ext>
                  </a:extLst>
                </a:hlinkClick>
              </a:rPr>
              <a:t>Half-Edge Data Structure</a:t>
            </a:r>
            <a:endParaRPr lang="pl-PL" sz="1100" dirty="0">
              <a:solidFill>
                <a:schemeClr val="bg1"/>
              </a:solidFill>
            </a:endParaRPr>
          </a:p>
          <a:p>
            <a:pPr marL="285750" indent="-285750">
              <a:buFont typeface="Arial" panose="020B0604020202020204" pitchFamily="34" charset="0"/>
              <a:buChar char="•"/>
            </a:pPr>
            <a:r>
              <a:rPr lang="pl-PL" sz="1100" dirty="0">
                <a:solidFill>
                  <a:schemeClr val="bg1"/>
                </a:solidFill>
                <a:hlinkClick r:id="rId4">
                  <a:extLst>
                    <a:ext uri="{A12FA001-AC4F-418D-AE19-62706E023703}">
                      <ahyp:hlinkClr xmlns:ahyp="http://schemas.microsoft.com/office/drawing/2018/hyperlinkcolor" val="tx"/>
                    </a:ext>
                  </a:extLst>
                </a:hlinkClick>
              </a:rPr>
              <a:t>Half_Edges_2</a:t>
            </a:r>
            <a:endParaRPr lang="pl-PL" sz="1100" dirty="0">
              <a:solidFill>
                <a:schemeClr val="bg1"/>
              </a:solidFill>
            </a:endParaRPr>
          </a:p>
          <a:p>
            <a:pPr marL="285750" indent="-285750">
              <a:buFont typeface="Arial" panose="020B0604020202020204" pitchFamily="34" charset="0"/>
              <a:buChar char="•"/>
            </a:pPr>
            <a:endParaRPr lang="pl-PL" sz="1100">
              <a:solidFill>
                <a:schemeClr val="bg1"/>
              </a:solidFill>
            </a:endParaRPr>
          </a:p>
        </p:txBody>
      </p:sp>
    </p:spTree>
    <p:extLst>
      <p:ext uri="{BB962C8B-B14F-4D97-AF65-F5344CB8AC3E}">
        <p14:creationId xmlns:p14="http://schemas.microsoft.com/office/powerpoint/2010/main" val="2681157007"/>
      </p:ext>
    </p:extLst>
  </p:cSld>
  <p:clrMapOvr>
    <a:masterClrMapping/>
  </p:clrMapOvr>
</p:sld>
</file>

<file path=ppt/theme/theme1.xml><?xml version="1.0" encoding="utf-8"?>
<a:theme xmlns:a="http://schemas.openxmlformats.org/drawingml/2006/main" name="MinimalXOVTI">
  <a:themeElements>
    <a:clrScheme name="AnalogousFromLightSeedRightStep">
      <a:dk1>
        <a:srgbClr val="000000"/>
      </a:dk1>
      <a:lt1>
        <a:srgbClr val="FFFFFF"/>
      </a:lt1>
      <a:dk2>
        <a:srgbClr val="413424"/>
      </a:dk2>
      <a:lt2>
        <a:srgbClr val="E2E5E8"/>
      </a:lt2>
      <a:accent1>
        <a:srgbClr val="D19651"/>
      </a:accent1>
      <a:accent2>
        <a:srgbClr val="A9A64F"/>
      </a:accent2>
      <a:accent3>
        <a:srgbClr val="90AB63"/>
      </a:accent3>
      <a:accent4>
        <a:srgbClr val="66B253"/>
      </a:accent4>
      <a:accent5>
        <a:srgbClr val="58B46B"/>
      </a:accent5>
      <a:accent6>
        <a:srgbClr val="53B28E"/>
      </a:accent6>
      <a:hlink>
        <a:srgbClr val="6283AA"/>
      </a:hlink>
      <a:folHlink>
        <a:srgbClr val="7F7F7F"/>
      </a:folHlink>
    </a:clrScheme>
    <a:fontScheme name="Custom 4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MinimalXOVTI</vt:lpstr>
      <vt:lpstr>Triangulacja wielokąta prostego – porównanie metod</vt:lpstr>
      <vt:lpstr>Czym jest triangulacja?</vt:lpstr>
      <vt:lpstr>Metoda I Triangulacja z wykorzystaniem wielokątów monotonicznych</vt:lpstr>
      <vt:lpstr>Celem algorytmu jest znalezienie triangulacji dowolnego wielokąta prostego. Aby to osiągnąć w tym sposobie musimy przeprowadzić kilka kroków:</vt:lpstr>
      <vt:lpstr>Wielokąt na którym przedstawimy  działanie</vt:lpstr>
      <vt:lpstr>Klasyfikacja wierzchołków</vt:lpstr>
      <vt:lpstr>Podział wielokąta na wielokąty monotoniczne</vt:lpstr>
      <vt:lpstr>Przebieg algorytmu</vt:lpstr>
      <vt:lpstr>Wierzchołek dzielący</vt:lpstr>
      <vt:lpstr>Wierzchołek łączący</vt:lpstr>
      <vt:lpstr>Rezultat podziału</vt:lpstr>
      <vt:lpstr>Triangulacja wielokątów monotonicznych</vt:lpstr>
      <vt:lpstr>Konwersja punktów i przekątnych na poszczególne wielokąty y-monotoniczne</vt:lpstr>
      <vt:lpstr>Triangulacja kolejnych wielokątów y-monotonicznych</vt:lpstr>
      <vt:lpstr>Rezultat triangulacji</vt:lpstr>
      <vt:lpstr>Kompletny algorytm</vt:lpstr>
      <vt:lpstr>Metoda II Triangulacja Delaunay’a</vt:lpstr>
      <vt:lpstr>Triangulacja Delaunay’a</vt:lpstr>
      <vt:lpstr>Struktura danych do przechowywania siatki triangulacji</vt:lpstr>
      <vt:lpstr>Etapy algorytmu</vt:lpstr>
      <vt:lpstr>1.Wstępna triangulacja</vt:lpstr>
      <vt:lpstr>Wstawienie punktu</vt:lpstr>
      <vt:lpstr>Wyszukanie trójkąta, w którym zawiera się punkt</vt:lpstr>
      <vt:lpstr>Wyszukiwanie trójkątów, których otoczki zawierają dany punkt</vt:lpstr>
      <vt:lpstr>Na pierwszym rysunku widać okręgi opisane na dwóch trójkątach, w których zawiera się wstawiany punkt. Następnie zostały one usunięte i zastąpione trójkątami utworzonymi poprzez połączenie dodawanego punktu z punktami będącymi wierzchołkami wielokąta utworzonego przez usunięte trójkąty.</vt:lpstr>
      <vt:lpstr>2. Odzyskiwanie krawędzi</vt:lpstr>
      <vt:lpstr>Wykrywanie przecięć</vt:lpstr>
      <vt:lpstr>3. Usuwanie trójkątów zewnętrznych</vt:lpstr>
      <vt:lpstr>Wizualizacja poszukiwania trójkątów wewnątrz przykładowego wieloboku</vt:lpstr>
      <vt:lpstr>Usuwanie nieodwiedzonych trójkątów</vt:lpstr>
      <vt:lpstr>Testy </vt:lpstr>
      <vt:lpstr>Dziękujemy za uwagę!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Wojciech Kaźmierczak</dc:creator>
  <cp:revision>59</cp:revision>
  <dcterms:created xsi:type="dcterms:W3CDTF">2024-01-02T12:47:54Z</dcterms:created>
  <dcterms:modified xsi:type="dcterms:W3CDTF">2024-01-02T23:56:20Z</dcterms:modified>
</cp:coreProperties>
</file>